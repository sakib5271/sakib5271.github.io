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charts/chart4.xml" ContentType="application/vnd.openxmlformats-officedocument.drawingml.chart+xml"/>
  <Override PartName="/ppt/notesSlides/notesSlide8.xml" ContentType="application/vnd.openxmlformats-officedocument.presentationml.notesSlide+xml"/>
  <Override PartName="/ppt/charts/chart5.xml" ContentType="application/vnd.openxmlformats-officedocument.drawingml.chart+xml"/>
  <Override PartName="/ppt/notesSlides/notesSlide9.xml" ContentType="application/vnd.openxmlformats-officedocument.presentationml.notesSlide+xml"/>
  <Override PartName="/ppt/charts/chart6.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7.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100" b="0" i="0" u="none" strike="noStrike">
                <a:solidFill>
                  <a:srgbClr val="36454F"/>
                </a:solidFill>
                <a:latin typeface="Arial"/>
              </a:defRPr>
            </a:pPr>
            <a:r>
              <a:rPr lang="en-US" sz="1100" b="0" i="0" u="none" strike="noStrike">
                <a:solidFill>
                  <a:srgbClr val="36454F"/>
                </a:solidFill>
                <a:latin typeface="Arial"/>
              </a:rPr>
              <a:t>US Monthly Hires (avg, 000s) — declining trend</a:t>
            </a:r>
          </a:p>
        </c:rich>
      </c:tx>
      <c:overlay val="0"/>
    </c:title>
    <c:autoTitleDeleted val="0"/>
    <c:plotArea>
      <c:layout/>
      <c:barChart>
        <c:barDir val="col"/>
        <c:grouping val="clustered"/>
        <c:varyColors val="0"/>
        <c:ser>
          <c:idx val="0"/>
          <c:order val="0"/>
          <c:tx>
            <c:strRef>
              <c:f>Sheet1!$B$1</c:f>
              <c:strCache>
                <c:ptCount val="1"/>
                <c:pt idx="0">
                  <c:v>Monthly Hires (000s)</c:v>
                </c:pt>
              </c:strCache>
            </c:strRef>
          </c:tx>
          <c:spPr>
            <a:solidFill>
              <a:srgbClr val="1C2B4A"/>
            </a:solidFill>
            <a:effectLst/>
          </c:spPr>
          <c:invertIfNegative val="0"/>
          <c:dLbls>
            <c:numFmt formatCode="#,##0" sourceLinked="0"/>
            <c:spPr>
              <a:noFill/>
              <a:ln>
                <a:noFill/>
              </a:ln>
              <a:effectLst/>
            </c:spPr>
            <c:txPr>
              <a:bodyPr/>
              <a:lstStyle/>
              <a:p>
                <a:pPr>
                  <a:defRPr sz="1000" b="0" i="0" u="none" strike="noStrike">
                    <a:solidFill>
                      <a:srgbClr val="36454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2021</c:v>
                </c:pt>
                <c:pt idx="1">
                  <c:v>2022</c:v>
                </c:pt>
                <c:pt idx="2">
                  <c:v>2023</c:v>
                </c:pt>
                <c:pt idx="3">
                  <c:v>2024</c:v>
                </c:pt>
                <c:pt idx="4">
                  <c:v>H1 2025</c:v>
                </c:pt>
                <c:pt idx="5">
                  <c:v>H2 2025</c:v>
                </c:pt>
                <c:pt idx="6">
                  <c:v>2026 YTD</c:v>
                </c:pt>
              </c:strCache>
            </c:strRef>
          </c:cat>
          <c:val>
            <c:numRef>
              <c:f>Sheet1!$B$2:$B$8</c:f>
              <c:numCache>
                <c:formatCode>General</c:formatCode>
                <c:ptCount val="7"/>
                <c:pt idx="0">
                  <c:v>6500</c:v>
                </c:pt>
                <c:pt idx="1">
                  <c:v>6300</c:v>
                </c:pt>
                <c:pt idx="2">
                  <c:v>5800</c:v>
                </c:pt>
                <c:pt idx="3">
                  <c:v>5400</c:v>
                </c:pt>
                <c:pt idx="4">
                  <c:v>5100</c:v>
                </c:pt>
                <c:pt idx="5">
                  <c:v>4900</c:v>
                </c:pt>
                <c:pt idx="6">
                  <c:v>4800</c:v>
                </c:pt>
              </c:numCache>
            </c:numRef>
          </c:val>
          <c:extLst>
            <c:ext xmlns:c16="http://schemas.microsoft.com/office/drawing/2014/chart" uri="{C3380CC4-5D6E-409C-BE32-E72D297353CC}">
              <c16:uniqueId val="{00000000-1902-4C6E-A588-C536CB1C127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36454F"/>
                </a:solidFill>
                <a:latin typeface="Arial"/>
              </a:defRPr>
            </a:pPr>
            <a:r>
              <a:rPr lang="en-US" sz="1100" b="0" i="0" u="none" strike="noStrike">
                <a:solidFill>
                  <a:srgbClr val="36454F"/>
                </a:solidFill>
                <a:latin typeface="Arial"/>
              </a:rPr>
              <a:t>Conference Board Consumer Confidence Index</a:t>
            </a:r>
          </a:p>
        </c:rich>
      </c:tx>
      <c:overlay val="0"/>
    </c:title>
    <c:autoTitleDeleted val="0"/>
    <c:plotArea>
      <c:layout/>
      <c:lineChart>
        <c:grouping val="standard"/>
        <c:varyColors val="0"/>
        <c:ser>
          <c:idx val="0"/>
          <c:order val="0"/>
          <c:tx>
            <c:strRef>
              <c:f>Sheet1!$B$1</c:f>
              <c:strCache>
                <c:ptCount val="1"/>
                <c:pt idx="0">
                  <c:v>Conf. Board Consumer Confidence (index)</c:v>
                </c:pt>
              </c:strCache>
            </c:strRef>
          </c:tx>
          <c:spPr>
            <a:ln w="31750" cap="flat">
              <a:solidFill>
                <a:srgbClr val="1C2B4A"/>
              </a:solidFill>
              <a:prstDash val="solid"/>
              <a:round/>
            </a:ln>
            <a:effectLst/>
          </c:spPr>
          <c:marker>
            <c:symbol val="circle"/>
            <c:size val="6"/>
            <c:spPr>
              <a:solidFill>
                <a:srgbClr val="1C2B4A"/>
              </a:solidFill>
              <a:ln w="9525" cap="flat">
                <a:solidFill>
                  <a:srgbClr val="1C2B4A"/>
                </a:solidFill>
                <a:prstDash val="solid"/>
                <a:round/>
              </a:ln>
              <a:effectLst/>
            </c:spPr>
          </c:marker>
          <c:cat>
            <c:strRef>
              <c:f>Sheet1!$A$2:$A$12</c:f>
              <c:strCache>
                <c:ptCount val="11"/>
                <c:pt idx="0">
                  <c:v>Jan 2022</c:v>
                </c:pt>
                <c:pt idx="1">
                  <c:v>Jun 2022</c:v>
                </c:pt>
                <c:pt idx="2">
                  <c:v>Jan 2023</c:v>
                </c:pt>
                <c:pt idx="3">
                  <c:v>Jun 2023</c:v>
                </c:pt>
                <c:pt idx="4">
                  <c:v>Jan 2024</c:v>
                </c:pt>
                <c:pt idx="5">
                  <c:v>Jun 2024</c:v>
                </c:pt>
                <c:pt idx="6">
                  <c:v>Jan 2025</c:v>
                </c:pt>
                <c:pt idx="7">
                  <c:v>Jun 2025</c:v>
                </c:pt>
                <c:pt idx="8">
                  <c:v>Nov 2025</c:v>
                </c:pt>
                <c:pt idx="9">
                  <c:v>Jan 2026</c:v>
                </c:pt>
                <c:pt idx="10">
                  <c:v>Mar 2026</c:v>
                </c:pt>
              </c:strCache>
            </c:strRef>
          </c:cat>
          <c:val>
            <c:numRef>
              <c:f>Sheet1!$B$2:$B$12</c:f>
              <c:numCache>
                <c:formatCode>General</c:formatCode>
                <c:ptCount val="11"/>
                <c:pt idx="0">
                  <c:v>111</c:v>
                </c:pt>
                <c:pt idx="1">
                  <c:v>97</c:v>
                </c:pt>
                <c:pt idx="2">
                  <c:v>108</c:v>
                </c:pt>
                <c:pt idx="3">
                  <c:v>110</c:v>
                </c:pt>
                <c:pt idx="4">
                  <c:v>112</c:v>
                </c:pt>
                <c:pt idx="5">
                  <c:v>100</c:v>
                </c:pt>
                <c:pt idx="6">
                  <c:v>106</c:v>
                </c:pt>
                <c:pt idx="7">
                  <c:v>98</c:v>
                </c:pt>
                <c:pt idx="8">
                  <c:v>88.7</c:v>
                </c:pt>
                <c:pt idx="9">
                  <c:v>84.5</c:v>
                </c:pt>
                <c:pt idx="10">
                  <c:v>91.8</c:v>
                </c:pt>
              </c:numCache>
            </c:numRef>
          </c:val>
          <c:smooth val="1"/>
          <c:extLst>
            <c:ext xmlns:c16="http://schemas.microsoft.com/office/drawing/2014/chart" uri="{C3380CC4-5D6E-409C-BE32-E72D297353CC}">
              <c16:uniqueId val="{00000000-677D-4350-92BF-1095BDF2D5C7}"/>
            </c:ext>
          </c:extLst>
        </c:ser>
        <c:ser>
          <c:idx val="1"/>
          <c:order val="1"/>
          <c:tx>
            <c:strRef>
              <c:f>Sheet1!$C$1</c:f>
              <c:strCache>
                <c:ptCount val="1"/>
                <c:pt idx="0">
                  <c:v>Recession signal threshold (80)</c:v>
                </c:pt>
              </c:strCache>
            </c:strRef>
          </c:tx>
          <c:spPr>
            <a:ln w="31750" cap="flat">
              <a:solidFill>
                <a:srgbClr val="D0291A"/>
              </a:solidFill>
              <a:prstDash val="solid"/>
              <a:round/>
            </a:ln>
            <a:effectLst/>
          </c:spPr>
          <c:marker>
            <c:symbol val="circle"/>
            <c:size val="6"/>
            <c:spPr>
              <a:solidFill>
                <a:srgbClr val="D0291A"/>
              </a:solidFill>
              <a:ln w="9525" cap="flat">
                <a:solidFill>
                  <a:srgbClr val="D0291A"/>
                </a:solidFill>
                <a:prstDash val="solid"/>
                <a:round/>
              </a:ln>
              <a:effectLst/>
            </c:spPr>
          </c:marker>
          <c:cat>
            <c:strRef>
              <c:f>Sheet1!$A$2:$A$12</c:f>
              <c:strCache>
                <c:ptCount val="11"/>
                <c:pt idx="0">
                  <c:v>Jan 2022</c:v>
                </c:pt>
                <c:pt idx="1">
                  <c:v>Jun 2022</c:v>
                </c:pt>
                <c:pt idx="2">
                  <c:v>Jan 2023</c:v>
                </c:pt>
                <c:pt idx="3">
                  <c:v>Jun 2023</c:v>
                </c:pt>
                <c:pt idx="4">
                  <c:v>Jan 2024</c:v>
                </c:pt>
                <c:pt idx="5">
                  <c:v>Jun 2024</c:v>
                </c:pt>
                <c:pt idx="6">
                  <c:v>Jan 2025</c:v>
                </c:pt>
                <c:pt idx="7">
                  <c:v>Jun 2025</c:v>
                </c:pt>
                <c:pt idx="8">
                  <c:v>Nov 2025</c:v>
                </c:pt>
                <c:pt idx="9">
                  <c:v>Jan 2026</c:v>
                </c:pt>
                <c:pt idx="10">
                  <c:v>Mar 2026</c:v>
                </c:pt>
              </c:strCache>
            </c:strRef>
          </c:cat>
          <c:val>
            <c:numRef>
              <c:f>Sheet1!$C$2:$C$12</c:f>
              <c:numCache>
                <c:formatCode>General</c:formatCode>
                <c:ptCount val="11"/>
                <c:pt idx="0">
                  <c:v>80</c:v>
                </c:pt>
                <c:pt idx="1">
                  <c:v>80</c:v>
                </c:pt>
                <c:pt idx="2">
                  <c:v>80</c:v>
                </c:pt>
                <c:pt idx="3">
                  <c:v>80</c:v>
                </c:pt>
                <c:pt idx="4">
                  <c:v>80</c:v>
                </c:pt>
                <c:pt idx="5">
                  <c:v>80</c:v>
                </c:pt>
                <c:pt idx="6">
                  <c:v>80</c:v>
                </c:pt>
                <c:pt idx="7">
                  <c:v>80</c:v>
                </c:pt>
                <c:pt idx="8">
                  <c:v>80</c:v>
                </c:pt>
                <c:pt idx="9">
                  <c:v>80</c:v>
                </c:pt>
                <c:pt idx="10">
                  <c:v>80</c:v>
                </c:pt>
              </c:numCache>
            </c:numRef>
          </c:val>
          <c:smooth val="1"/>
          <c:extLst>
            <c:ext xmlns:c16="http://schemas.microsoft.com/office/drawing/2014/chart" uri="{C3380CC4-5D6E-409C-BE32-E72D297353CC}">
              <c16:uniqueId val="{00000001-677D-4350-92BF-1095BDF2D5C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64748B"/>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36454F"/>
                </a:solidFill>
                <a:latin typeface="Arial"/>
              </a:defRPr>
            </a:pPr>
            <a:r>
              <a:rPr lang="en-US" sz="1100" b="0" i="0" u="none" strike="noStrike">
                <a:solidFill>
                  <a:srgbClr val="36454F"/>
                </a:solidFill>
                <a:latin typeface="Arial"/>
              </a:rPr>
              <a:t>Challenger annual job cut announcements (000s)</a:t>
            </a:r>
          </a:p>
        </c:rich>
      </c:tx>
      <c:overlay val="0"/>
    </c:title>
    <c:autoTitleDeleted val="0"/>
    <c:plotArea>
      <c:layout/>
      <c:barChart>
        <c:barDir val="col"/>
        <c:grouping val="clustered"/>
        <c:varyColors val="0"/>
        <c:ser>
          <c:idx val="0"/>
          <c:order val="0"/>
          <c:tx>
            <c:strRef>
              <c:f>Sheet1!$B$1</c:f>
              <c:strCache>
                <c:ptCount val="1"/>
                <c:pt idx="0">
                  <c:v>Annual job cuts announced (000s)</c:v>
                </c:pt>
              </c:strCache>
            </c:strRef>
          </c:tx>
          <c:spPr>
            <a:solidFill>
              <a:srgbClr val="1C2B4A"/>
            </a:solidFill>
            <a:effectLst/>
          </c:spPr>
          <c:invertIfNegative val="0"/>
          <c:dPt>
            <c:idx val="0"/>
            <c:invertIfNegative val="0"/>
            <c:bubble3D val="0"/>
            <c:extLst>
              <c:ext xmlns:c16="http://schemas.microsoft.com/office/drawing/2014/chart" uri="{C3380CC4-5D6E-409C-BE32-E72D297353CC}">
                <c16:uniqueId val="{00000001-C746-4742-8119-019804A7D873}"/>
              </c:ext>
            </c:extLst>
          </c:dPt>
          <c:dPt>
            <c:idx val="1"/>
            <c:invertIfNegative val="0"/>
            <c:bubble3D val="0"/>
            <c:extLst>
              <c:ext xmlns:c16="http://schemas.microsoft.com/office/drawing/2014/chart" uri="{C3380CC4-5D6E-409C-BE32-E72D297353CC}">
                <c16:uniqueId val="{00000003-C746-4742-8119-019804A7D873}"/>
              </c:ext>
            </c:extLst>
          </c:dPt>
          <c:dPt>
            <c:idx val="2"/>
            <c:invertIfNegative val="0"/>
            <c:bubble3D val="0"/>
            <c:extLst>
              <c:ext xmlns:c16="http://schemas.microsoft.com/office/drawing/2014/chart" uri="{C3380CC4-5D6E-409C-BE32-E72D297353CC}">
                <c16:uniqueId val="{00000005-C746-4742-8119-019804A7D873}"/>
              </c:ext>
            </c:extLst>
          </c:dPt>
          <c:dPt>
            <c:idx val="3"/>
            <c:invertIfNegative val="0"/>
            <c:bubble3D val="0"/>
            <c:extLst>
              <c:ext xmlns:c16="http://schemas.microsoft.com/office/drawing/2014/chart" uri="{C3380CC4-5D6E-409C-BE32-E72D297353CC}">
                <c16:uniqueId val="{00000007-C746-4742-8119-019804A7D873}"/>
              </c:ext>
            </c:extLst>
          </c:dPt>
          <c:dPt>
            <c:idx val="4"/>
            <c:invertIfNegative val="0"/>
            <c:bubble3D val="0"/>
            <c:extLst>
              <c:ext xmlns:c16="http://schemas.microsoft.com/office/drawing/2014/chart" uri="{C3380CC4-5D6E-409C-BE32-E72D297353CC}">
                <c16:uniqueId val="{00000009-C746-4742-8119-019804A7D873}"/>
              </c:ext>
            </c:extLst>
          </c:dPt>
          <c:dPt>
            <c:idx val="5"/>
            <c:invertIfNegative val="0"/>
            <c:bubble3D val="0"/>
            <c:extLst>
              <c:ext xmlns:c16="http://schemas.microsoft.com/office/drawing/2014/chart" uri="{C3380CC4-5D6E-409C-BE32-E72D297353CC}">
                <c16:uniqueId val="{0000000B-C746-4742-8119-019804A7D873}"/>
              </c:ext>
            </c:extLst>
          </c:dPt>
          <c:dPt>
            <c:idx val="6"/>
            <c:invertIfNegative val="0"/>
            <c:bubble3D val="0"/>
            <c:spPr>
              <a:solidFill>
                <a:srgbClr val="D0291A"/>
              </a:solidFill>
              <a:effectLst/>
            </c:spPr>
            <c:extLst>
              <c:ext xmlns:c16="http://schemas.microsoft.com/office/drawing/2014/chart" uri="{C3380CC4-5D6E-409C-BE32-E72D297353CC}">
                <c16:uniqueId val="{0000000D-C746-4742-8119-019804A7D873}"/>
              </c:ext>
            </c:extLst>
          </c:dPt>
          <c:dLbls>
            <c:numFmt formatCode="#,##0" sourceLinked="0"/>
            <c:spPr>
              <a:noFill/>
              <a:ln>
                <a:noFill/>
              </a:ln>
              <a:effectLst/>
            </c:spPr>
            <c:txPr>
              <a:bodyPr/>
              <a:lstStyle/>
              <a:p>
                <a:pPr>
                  <a:defRPr sz="1000" b="0" i="0" u="none" strike="noStrike">
                    <a:solidFill>
                      <a:srgbClr val="36454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592</c:v>
                </c:pt>
                <c:pt idx="1">
                  <c:v>2305</c:v>
                </c:pt>
                <c:pt idx="2">
                  <c:v>383</c:v>
                </c:pt>
                <c:pt idx="3">
                  <c:v>363</c:v>
                </c:pt>
                <c:pt idx="4">
                  <c:v>721</c:v>
                </c:pt>
                <c:pt idx="5">
                  <c:v>761</c:v>
                </c:pt>
                <c:pt idx="6">
                  <c:v>1206</c:v>
                </c:pt>
              </c:numCache>
            </c:numRef>
          </c:val>
          <c:extLst>
            <c:ext xmlns:c16="http://schemas.microsoft.com/office/drawing/2014/chart" uri="{C3380CC4-5D6E-409C-BE32-E72D297353CC}">
              <c16:uniqueId val="{0000000E-C746-4742-8119-019804A7D87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36454F"/>
                </a:solidFill>
                <a:latin typeface="Arial"/>
              </a:defRPr>
            </a:pPr>
            <a:r>
              <a:rPr lang="en-US" sz="1100" b="0" i="0" u="none" strike="noStrike">
                <a:solidFill>
                  <a:srgbClr val="36454F"/>
                </a:solidFill>
                <a:latin typeface="Arial"/>
              </a:rPr>
              <a:t>Job cut announcements citing AI as reason</a:t>
            </a:r>
          </a:p>
        </c:rich>
      </c:tx>
      <c:overlay val="0"/>
    </c:title>
    <c:autoTitleDeleted val="0"/>
    <c:plotArea>
      <c:layout/>
      <c:barChart>
        <c:barDir val="col"/>
        <c:grouping val="clustered"/>
        <c:varyColors val="0"/>
        <c:ser>
          <c:idx val="0"/>
          <c:order val="0"/>
          <c:tx>
            <c:strRef>
              <c:f>Sheet1!$B$1</c:f>
              <c:strCache>
                <c:ptCount val="1"/>
                <c:pt idx="0">
                  <c:v>AI-cited job cut announcements</c:v>
                </c:pt>
              </c:strCache>
            </c:strRef>
          </c:tx>
          <c:spPr>
            <a:solidFill>
              <a:srgbClr val="D0291A"/>
            </a:solidFill>
            <a:effectLst/>
          </c:spPr>
          <c:invertIfNegative val="0"/>
          <c:dLbls>
            <c:numFmt formatCode="#,##0" sourceLinked="0"/>
            <c:spPr>
              <a:noFill/>
              <a:ln>
                <a:noFill/>
              </a:ln>
              <a:effectLst/>
            </c:spPr>
            <c:txPr>
              <a:bodyPr/>
              <a:lstStyle/>
              <a:p>
                <a:pPr>
                  <a:defRPr sz="1100" b="0" i="0" u="none" strike="noStrike">
                    <a:solidFill>
                      <a:srgbClr val="36454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2023</c:v>
                </c:pt>
                <c:pt idx="1">
                  <c:v>2024</c:v>
                </c:pt>
                <c:pt idx="2">
                  <c:v>2025</c:v>
                </c:pt>
                <c:pt idx="3">
                  <c:v>Q1 2026</c:v>
                </c:pt>
              </c:strCache>
            </c:strRef>
          </c:cat>
          <c:val>
            <c:numRef>
              <c:f>Sheet1!$B$2:$B$5</c:f>
              <c:numCache>
                <c:formatCode>General</c:formatCode>
                <c:ptCount val="4"/>
                <c:pt idx="0">
                  <c:v>4634</c:v>
                </c:pt>
                <c:pt idx="1">
                  <c:v>14461</c:v>
                </c:pt>
                <c:pt idx="2">
                  <c:v>54836</c:v>
                </c:pt>
                <c:pt idx="3">
                  <c:v>27645</c:v>
                </c:pt>
              </c:numCache>
            </c:numRef>
          </c:val>
          <c:extLst>
            <c:ext xmlns:c16="http://schemas.microsoft.com/office/drawing/2014/chart" uri="{C3380CC4-5D6E-409C-BE32-E72D297353CC}">
              <c16:uniqueId val="{00000000-B238-4C46-9CB2-B0A48D3735A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36454F"/>
                </a:solidFill>
                <a:latin typeface="Arial"/>
              </a:defRPr>
            </a:pPr>
            <a:r>
              <a:rPr lang="en-US" sz="1100" b="0" i="0" u="none" strike="noStrike">
                <a:solidFill>
                  <a:srgbClr val="36454F"/>
                </a:solidFill>
                <a:latin typeface="Arial"/>
              </a:rPr>
              <a:t>Federal employment index (Oct 2024 = 100)</a:t>
            </a:r>
          </a:p>
        </c:rich>
      </c:tx>
      <c:overlay val="0"/>
    </c:title>
    <c:autoTitleDeleted val="0"/>
    <c:plotArea>
      <c:layout/>
      <c:lineChart>
        <c:grouping val="standard"/>
        <c:varyColors val="0"/>
        <c:ser>
          <c:idx val="0"/>
          <c:order val="0"/>
          <c:tx>
            <c:strRef>
              <c:f>Sheet1!$B$1</c:f>
              <c:strCache>
                <c:ptCount val="1"/>
                <c:pt idx="0">
                  <c:v>Federal employment (000s, indexed to Oct 2024 = 100)</c:v>
                </c:pt>
              </c:strCache>
            </c:strRef>
          </c:tx>
          <c:spPr>
            <a:ln w="31750" cap="flat">
              <a:solidFill>
                <a:srgbClr val="D0291A"/>
              </a:solidFill>
              <a:prstDash val="solid"/>
              <a:round/>
            </a:ln>
            <a:effectLst/>
          </c:spPr>
          <c:marker>
            <c:symbol val="circle"/>
            <c:size val="6"/>
            <c:spPr>
              <a:solidFill>
                <a:srgbClr val="D0291A"/>
              </a:solidFill>
              <a:ln w="9525" cap="flat">
                <a:solidFill>
                  <a:srgbClr val="D0291A"/>
                </a:solidFill>
                <a:prstDash val="solid"/>
                <a:round/>
              </a:ln>
              <a:effectLst/>
            </c:spPr>
          </c:marker>
          <c:cat>
            <c:strRef>
              <c:f>Sheet1!$A$2:$A$11</c:f>
              <c:strCache>
                <c:ptCount val="10"/>
                <c:pt idx="0">
                  <c:v>Oct 2024</c:v>
                </c:pt>
                <c:pt idx="1">
                  <c:v>Nov 2024</c:v>
                </c:pt>
                <c:pt idx="2">
                  <c:v>Dec 2024</c:v>
                </c:pt>
                <c:pt idx="3">
                  <c:v>Jan 2025</c:v>
                </c:pt>
                <c:pt idx="4">
                  <c:v>Feb 2025</c:v>
                </c:pt>
                <c:pt idx="5">
                  <c:v>Mar 2025</c:v>
                </c:pt>
                <c:pt idx="6">
                  <c:v>Jun 2025</c:v>
                </c:pt>
                <c:pt idx="7">
                  <c:v>Sep 2025</c:v>
                </c:pt>
                <c:pt idx="8">
                  <c:v>Dec 2025</c:v>
                </c:pt>
                <c:pt idx="9">
                  <c:v>Mar 2026</c:v>
                </c:pt>
              </c:strCache>
            </c:strRef>
          </c:cat>
          <c:val>
            <c:numRef>
              <c:f>Sheet1!$B$2:$B$11</c:f>
              <c:numCache>
                <c:formatCode>General</c:formatCode>
                <c:ptCount val="10"/>
                <c:pt idx="0">
                  <c:v>100</c:v>
                </c:pt>
                <c:pt idx="1">
                  <c:v>99.5</c:v>
                </c:pt>
                <c:pt idx="2">
                  <c:v>99.2</c:v>
                </c:pt>
                <c:pt idx="3">
                  <c:v>98.5</c:v>
                </c:pt>
                <c:pt idx="4">
                  <c:v>97</c:v>
                </c:pt>
                <c:pt idx="5">
                  <c:v>95</c:v>
                </c:pt>
                <c:pt idx="6">
                  <c:v>93</c:v>
                </c:pt>
                <c:pt idx="7">
                  <c:v>91.5</c:v>
                </c:pt>
                <c:pt idx="8">
                  <c:v>90</c:v>
                </c:pt>
                <c:pt idx="9">
                  <c:v>88.2</c:v>
                </c:pt>
              </c:numCache>
            </c:numRef>
          </c:val>
          <c:smooth val="1"/>
          <c:extLst>
            <c:ext xmlns:c16="http://schemas.microsoft.com/office/drawing/2014/chart" uri="{C3380CC4-5D6E-409C-BE32-E72D297353CC}">
              <c16:uniqueId val="{00000000-A51D-4A05-A0C9-36650196312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36454F"/>
                </a:solidFill>
                <a:latin typeface="Arial"/>
              </a:defRPr>
            </a:pPr>
            <a:r>
              <a:rPr lang="en-US" sz="1100" b="0" i="0" u="none" strike="noStrike">
                <a:solidFill>
                  <a:srgbClr val="36454F"/>
                </a:solidFill>
                <a:latin typeface="Arial"/>
              </a:rPr>
              <a:t>Monthly job gains — the slowdown is undeniable</a:t>
            </a:r>
          </a:p>
        </c:rich>
      </c:tx>
      <c:overlay val="0"/>
    </c:title>
    <c:autoTitleDeleted val="0"/>
    <c:plotArea>
      <c:layout/>
      <c:barChart>
        <c:barDir val="col"/>
        <c:grouping val="clustered"/>
        <c:varyColors val="0"/>
        <c:ser>
          <c:idx val="0"/>
          <c:order val="0"/>
          <c:tx>
            <c:strRef>
              <c:f>Sheet1!$B$1</c:f>
              <c:strCache>
                <c:ptCount val="1"/>
                <c:pt idx="0">
                  <c:v>Monthly nonfarm payroll gains (000s, 3-month moving avg)</c:v>
                </c:pt>
              </c:strCache>
            </c:strRef>
          </c:tx>
          <c:spPr>
            <a:solidFill>
              <a:srgbClr val="1C2B4A"/>
            </a:solidFill>
            <a:effectLst/>
          </c:spPr>
          <c:invertIfNegative val="0"/>
          <c:cat>
            <c:strRef>
              <c:f>Sheet1!$A$2:$A$18</c:f>
              <c:strCache>
                <c:ptCount val="17"/>
                <c:pt idx="0">
                  <c:v>Q1 2022</c:v>
                </c:pt>
                <c:pt idx="1">
                  <c:v>Q2 2022</c:v>
                </c:pt>
                <c:pt idx="2">
                  <c:v>Q3 2022</c:v>
                </c:pt>
                <c:pt idx="3">
                  <c:v>Q4 2022</c:v>
                </c:pt>
                <c:pt idx="4">
                  <c:v>Q1 2023</c:v>
                </c:pt>
                <c:pt idx="5">
                  <c:v>Q2 2023</c:v>
                </c:pt>
                <c:pt idx="6">
                  <c:v>Q3 2023</c:v>
                </c:pt>
                <c:pt idx="7">
                  <c:v>Q4 2023</c:v>
                </c:pt>
                <c:pt idx="8">
                  <c:v>Q1 2024</c:v>
                </c:pt>
                <c:pt idx="9">
                  <c:v>Q2 2024</c:v>
                </c:pt>
                <c:pt idx="10">
                  <c:v>Q3 2024</c:v>
                </c:pt>
                <c:pt idx="11">
                  <c:v>Q4 2024</c:v>
                </c:pt>
                <c:pt idx="12">
                  <c:v>Q1 2025</c:v>
                </c:pt>
                <c:pt idx="13">
                  <c:v>Q2 2025</c:v>
                </c:pt>
                <c:pt idx="14">
                  <c:v>Q3 2025</c:v>
                </c:pt>
                <c:pt idx="15">
                  <c:v>Q4 2025</c:v>
                </c:pt>
                <c:pt idx="16">
                  <c:v>Jan 2026</c:v>
                </c:pt>
              </c:strCache>
            </c:strRef>
          </c:cat>
          <c:val>
            <c:numRef>
              <c:f>Sheet1!$B$2:$B$18</c:f>
              <c:numCache>
                <c:formatCode>General</c:formatCode>
                <c:ptCount val="17"/>
                <c:pt idx="0">
                  <c:v>600</c:v>
                </c:pt>
                <c:pt idx="1">
                  <c:v>500</c:v>
                </c:pt>
                <c:pt idx="2">
                  <c:v>370</c:v>
                </c:pt>
                <c:pt idx="3">
                  <c:v>260</c:v>
                </c:pt>
                <c:pt idx="4">
                  <c:v>350</c:v>
                </c:pt>
                <c:pt idx="5">
                  <c:v>280</c:v>
                </c:pt>
                <c:pt idx="6">
                  <c:v>220</c:v>
                </c:pt>
                <c:pt idx="7">
                  <c:v>200</c:v>
                </c:pt>
                <c:pt idx="8">
                  <c:v>250</c:v>
                </c:pt>
                <c:pt idx="9">
                  <c:v>180</c:v>
                </c:pt>
                <c:pt idx="10">
                  <c:v>155</c:v>
                </c:pt>
                <c:pt idx="11">
                  <c:v>140</c:v>
                </c:pt>
                <c:pt idx="12">
                  <c:v>80</c:v>
                </c:pt>
                <c:pt idx="13">
                  <c:v>60</c:v>
                </c:pt>
                <c:pt idx="14">
                  <c:v>30</c:v>
                </c:pt>
                <c:pt idx="15">
                  <c:v>45</c:v>
                </c:pt>
                <c:pt idx="16">
                  <c:v>130</c:v>
                </c:pt>
              </c:numCache>
            </c:numRef>
          </c:val>
          <c:extLst>
            <c:ext xmlns:c16="http://schemas.microsoft.com/office/drawing/2014/chart" uri="{C3380CC4-5D6E-409C-BE32-E72D297353CC}">
              <c16:uniqueId val="{00000000-1530-4EF9-B8CF-D2DCE66F9995}"/>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36454F"/>
                </a:solidFill>
                <a:latin typeface="Arial"/>
              </a:defRPr>
            </a:pPr>
            <a:r>
              <a:rPr sz="1100" b="0" i="0" u="none" strike="noStrike">
                <a:solidFill>
                  <a:srgbClr val="36454F"/>
                </a:solidFill>
                <a:latin typeface="Arial"/>
              </a:rPr>
              <a:t>Approximate 12-month employment change by sector (Mar 2025 → Mar 2026)</a:t>
            </a:r>
          </a:p>
        </c:rich>
      </c:tx>
      <c:overlay val="0"/>
    </c:title>
    <c:autoTitleDeleted val="0"/>
    <c:plotArea>
      <c:layout/>
      <c:barChart>
        <c:barDir val="bar"/>
        <c:grouping val="clustered"/>
        <c:varyColors val="0"/>
        <c:ser>
          <c:idx val="0"/>
          <c:order val="0"/>
          <c:tx>
            <c:strRef>
              <c:f>Sheet1!$B$1</c:f>
              <c:strCache>
                <c:ptCount val="1"/>
                <c:pt idx="0">
                  <c:v>12-month job change by sector (000s)</c:v>
                </c:pt>
              </c:strCache>
            </c:strRef>
          </c:tx>
          <c:spPr>
            <a:solidFill>
              <a:srgbClr val="1C2B4A"/>
            </a:solidFill>
            <a:effectLst/>
          </c:spPr>
          <c:invertIfNegative val="0"/>
          <c:dPt>
            <c:idx val="0"/>
            <c:invertIfNegative val="0"/>
            <c:bubble3D val="0"/>
            <c:extLst>
              <c:ext xmlns:c16="http://schemas.microsoft.com/office/drawing/2014/chart" uri="{C3380CC4-5D6E-409C-BE32-E72D297353CC}">
                <c16:uniqueId val="{00000001-AD69-45FA-B85A-964874F67527}"/>
              </c:ext>
            </c:extLst>
          </c:dPt>
          <c:dPt>
            <c:idx val="1"/>
            <c:invertIfNegative val="0"/>
            <c:bubble3D val="0"/>
            <c:extLst>
              <c:ext xmlns:c16="http://schemas.microsoft.com/office/drawing/2014/chart" uri="{C3380CC4-5D6E-409C-BE32-E72D297353CC}">
                <c16:uniqueId val="{00000003-AD69-45FA-B85A-964874F67527}"/>
              </c:ext>
            </c:extLst>
          </c:dPt>
          <c:dPt>
            <c:idx val="2"/>
            <c:invertIfNegative val="0"/>
            <c:bubble3D val="0"/>
            <c:spPr>
              <a:solidFill>
                <a:srgbClr val="D0291A"/>
              </a:solidFill>
              <a:effectLst/>
            </c:spPr>
            <c:extLst>
              <c:ext xmlns:c16="http://schemas.microsoft.com/office/drawing/2014/chart" uri="{C3380CC4-5D6E-409C-BE32-E72D297353CC}">
                <c16:uniqueId val="{00000005-AD69-45FA-B85A-964874F67527}"/>
              </c:ext>
            </c:extLst>
          </c:dPt>
          <c:dPt>
            <c:idx val="3"/>
            <c:invertIfNegative val="0"/>
            <c:bubble3D val="0"/>
            <c:spPr>
              <a:solidFill>
                <a:srgbClr val="D0291A"/>
              </a:solidFill>
              <a:effectLst/>
            </c:spPr>
            <c:extLst>
              <c:ext xmlns:c16="http://schemas.microsoft.com/office/drawing/2014/chart" uri="{C3380CC4-5D6E-409C-BE32-E72D297353CC}">
                <c16:uniqueId val="{00000007-AD69-45FA-B85A-964874F67527}"/>
              </c:ext>
            </c:extLst>
          </c:dPt>
          <c:dPt>
            <c:idx val="4"/>
            <c:invertIfNegative val="0"/>
            <c:bubble3D val="0"/>
            <c:spPr>
              <a:solidFill>
                <a:srgbClr val="D0291A"/>
              </a:solidFill>
              <a:effectLst/>
            </c:spPr>
            <c:extLst>
              <c:ext xmlns:c16="http://schemas.microsoft.com/office/drawing/2014/chart" uri="{C3380CC4-5D6E-409C-BE32-E72D297353CC}">
                <c16:uniqueId val="{00000009-AD69-45FA-B85A-964874F67527}"/>
              </c:ext>
            </c:extLst>
          </c:dPt>
          <c:dPt>
            <c:idx val="5"/>
            <c:invertIfNegative val="0"/>
            <c:bubble3D val="0"/>
            <c:spPr>
              <a:solidFill>
                <a:srgbClr val="D0291A"/>
              </a:solidFill>
              <a:effectLst/>
            </c:spPr>
            <c:extLst>
              <c:ext xmlns:c16="http://schemas.microsoft.com/office/drawing/2014/chart" uri="{C3380CC4-5D6E-409C-BE32-E72D297353CC}">
                <c16:uniqueId val="{0000000B-AD69-45FA-B85A-964874F67527}"/>
              </c:ext>
            </c:extLst>
          </c:dPt>
          <c:dPt>
            <c:idx val="6"/>
            <c:invertIfNegative val="0"/>
            <c:bubble3D val="0"/>
            <c:spPr>
              <a:solidFill>
                <a:srgbClr val="D0291A"/>
              </a:solidFill>
              <a:effectLst/>
            </c:spPr>
            <c:extLst>
              <c:ext xmlns:c16="http://schemas.microsoft.com/office/drawing/2014/chart" uri="{C3380CC4-5D6E-409C-BE32-E72D297353CC}">
                <c16:uniqueId val="{0000000D-AD69-45FA-B85A-964874F67527}"/>
              </c:ext>
            </c:extLst>
          </c:dPt>
          <c:dPt>
            <c:idx val="7"/>
            <c:invertIfNegative val="0"/>
            <c:bubble3D val="0"/>
            <c:spPr>
              <a:solidFill>
                <a:srgbClr val="D0291A"/>
              </a:solidFill>
              <a:effectLst/>
            </c:spPr>
            <c:extLst>
              <c:ext xmlns:c16="http://schemas.microsoft.com/office/drawing/2014/chart" uri="{C3380CC4-5D6E-409C-BE32-E72D297353CC}">
                <c16:uniqueId val="{0000000F-AD69-45FA-B85A-964874F67527}"/>
              </c:ext>
            </c:extLst>
          </c:dPt>
          <c:dLbls>
            <c:numFmt formatCode="#,##0" sourceLinked="0"/>
            <c:spPr>
              <a:noFill/>
              <a:ln>
                <a:noFill/>
              </a:ln>
              <a:effectLst/>
            </c:spPr>
            <c:txPr>
              <a:bodyPr/>
              <a:lstStyle/>
              <a:p>
                <a:pPr>
                  <a:defRPr sz="1000" b="0" i="0" u="none" strike="noStrike">
                    <a:solidFill>
                      <a:srgbClr val="36454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Healthcare</c:v>
                </c:pt>
                <c:pt idx="1">
                  <c:v>Construction</c:v>
                </c:pt>
                <c:pt idx="2">
                  <c:v>Transport</c:v>
                </c:pt>
                <c:pt idx="3">
                  <c:v>Information</c:v>
                </c:pt>
                <c:pt idx="4">
                  <c:v>Financial</c:v>
                </c:pt>
                <c:pt idx="5">
                  <c:v>Gov (Federal)</c:v>
                </c:pt>
                <c:pt idx="6">
                  <c:v>Retail</c:v>
                </c:pt>
                <c:pt idx="7">
                  <c:v>Manufacturing</c:v>
                </c:pt>
              </c:strCache>
            </c:strRef>
          </c:cat>
          <c:val>
            <c:numRef>
              <c:f>Sheet1!$B$2:$B$9</c:f>
              <c:numCache>
                <c:formatCode>General</c:formatCode>
                <c:ptCount val="8"/>
                <c:pt idx="0">
                  <c:v>348</c:v>
                </c:pt>
                <c:pt idx="1">
                  <c:v>120</c:v>
                </c:pt>
                <c:pt idx="2">
                  <c:v>-139</c:v>
                </c:pt>
                <c:pt idx="3">
                  <c:v>-45</c:v>
                </c:pt>
                <c:pt idx="4">
                  <c:v>-77</c:v>
                </c:pt>
                <c:pt idx="5">
                  <c:v>-355</c:v>
                </c:pt>
                <c:pt idx="6">
                  <c:v>-30</c:v>
                </c:pt>
                <c:pt idx="7">
                  <c:v>-25</c:v>
                </c:pt>
              </c:numCache>
            </c:numRef>
          </c:val>
          <c:extLst>
            <c:ext xmlns:c16="http://schemas.microsoft.com/office/drawing/2014/chart" uri="{C3380CC4-5D6E-409C-BE32-E72D297353CC}">
              <c16:uniqueId val="{00000010-AD69-45FA-B85A-964874F6752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majorGridlines>
          <c:spPr>
            <a:ln w="6350" cap="flat">
              <a:solidFill>
                <a:srgbClr val="E2E8F0"/>
              </a:solidFill>
              <a:prstDash val="solid"/>
              <a:round/>
            </a:ln>
          </c:spPr>
        </c:majorGridlines>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2909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C1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0291A"/>
          </a:solidFill>
          <a:ln w="12700">
            <a:solidFill>
              <a:srgbClr val="D0291A"/>
            </a:solidFill>
            <a:prstDash val="solid"/>
          </a:ln>
        </p:spPr>
        <p:txBody>
          <a:bodyPr/>
          <a:lstStyle/>
          <a:p>
            <a:endParaRPr lang="en-US"/>
          </a:p>
        </p:txBody>
      </p:sp>
      <p:sp>
        <p:nvSpPr>
          <p:cNvPr id="3" name="Text 1"/>
          <p:cNvSpPr/>
          <p:nvPr/>
        </p:nvSpPr>
        <p:spPr>
          <a:xfrm>
            <a:off x="457200" y="1005840"/>
            <a:ext cx="8229600" cy="1828800"/>
          </a:xfrm>
          <a:prstGeom prst="rect">
            <a:avLst/>
          </a:prstGeom>
          <a:noFill/>
          <a:ln/>
        </p:spPr>
        <p:txBody>
          <a:bodyPr wrap="square" rtlCol="0" anchor="t"/>
          <a:lstStyle/>
          <a:p>
            <a:pPr marL="0" indent="0">
              <a:buNone/>
            </a:pPr>
            <a:r>
              <a:rPr lang="en-US" sz="5200" b="1" dirty="0">
                <a:solidFill>
                  <a:srgbClr val="FFFFFF"/>
                </a:solidFill>
                <a:latin typeface="Calibri" pitchFamily="34" charset="0"/>
                <a:ea typeface="Calibri" pitchFamily="34" charset="-122"/>
                <a:cs typeface="Calibri" pitchFamily="34" charset="-120"/>
              </a:rPr>
              <a:t>The Labor Market</a:t>
            </a:r>
            <a:endParaRPr lang="en-US" sz="5200" dirty="0"/>
          </a:p>
          <a:p>
            <a:pPr marL="0" indent="0">
              <a:buNone/>
            </a:pPr>
            <a:r>
              <a:rPr lang="en-US" sz="5200" b="1" dirty="0">
                <a:solidFill>
                  <a:srgbClr val="FFFFFF"/>
                </a:solidFill>
                <a:latin typeface="Calibri" pitchFamily="34" charset="0"/>
                <a:ea typeface="Calibri" pitchFamily="34" charset="-122"/>
                <a:cs typeface="Calibri" pitchFamily="34" charset="-120"/>
              </a:rPr>
              <a:t>Paradox</a:t>
            </a:r>
            <a:endParaRPr lang="en-US" sz="5200" dirty="0"/>
          </a:p>
        </p:txBody>
      </p:sp>
      <p:sp>
        <p:nvSpPr>
          <p:cNvPr id="4" name="Text 2"/>
          <p:cNvSpPr/>
          <p:nvPr/>
        </p:nvSpPr>
        <p:spPr>
          <a:xfrm>
            <a:off x="457200" y="2926080"/>
            <a:ext cx="7772400" cy="1097280"/>
          </a:xfrm>
          <a:prstGeom prst="rect">
            <a:avLst/>
          </a:prstGeom>
          <a:noFill/>
          <a:ln/>
        </p:spPr>
        <p:txBody>
          <a:bodyPr wrap="square" rtlCol="0" anchor="ctr"/>
          <a:lstStyle/>
          <a:p>
            <a:pPr marL="0" indent="0">
              <a:buNone/>
            </a:pPr>
            <a:r>
              <a:rPr lang="en-US" sz="1800" dirty="0">
                <a:solidFill>
                  <a:srgbClr val="AAAAAA"/>
                </a:solidFill>
                <a:latin typeface="Calibri" pitchFamily="34" charset="0"/>
                <a:ea typeface="Calibri" pitchFamily="34" charset="-122"/>
                <a:cs typeface="Calibri" pitchFamily="34" charset="-120"/>
              </a:rPr>
              <a:t>How unemployment and employment can rise at the same time</a:t>
            </a:r>
            <a:endParaRPr lang="en-US" sz="1800" dirty="0"/>
          </a:p>
          <a:p>
            <a:pPr marL="0" indent="0">
              <a:buNone/>
            </a:pPr>
            <a:r>
              <a:rPr lang="en-US" sz="1800" dirty="0">
                <a:solidFill>
                  <a:srgbClr val="AAAAAA"/>
                </a:solidFill>
                <a:latin typeface="Calibri" pitchFamily="34" charset="0"/>
                <a:ea typeface="Calibri" pitchFamily="34" charset="-122"/>
                <a:cs typeface="Calibri" pitchFamily="34" charset="-120"/>
              </a:rPr>
              <a:t>— and what it means for the future of work</a:t>
            </a:r>
            <a:endParaRPr lang="en-US" sz="1800" dirty="0"/>
          </a:p>
        </p:txBody>
      </p:sp>
      <p:sp>
        <p:nvSpPr>
          <p:cNvPr id="5" name="Text 3"/>
          <p:cNvSpPr/>
          <p:nvPr/>
        </p:nvSpPr>
        <p:spPr>
          <a:xfrm>
            <a:off x="457200" y="4663440"/>
            <a:ext cx="3657600" cy="365760"/>
          </a:xfrm>
          <a:prstGeom prst="rect">
            <a:avLst/>
          </a:prstGeom>
          <a:noFill/>
          <a:ln/>
        </p:spPr>
        <p:txBody>
          <a:bodyPr wrap="square" rtlCol="0" anchor="ctr"/>
          <a:lstStyle/>
          <a:p>
            <a:pPr marL="0" indent="0">
              <a:buNone/>
            </a:pPr>
            <a:r>
              <a:rPr lang="en-US" sz="1200" dirty="0">
                <a:solidFill>
                  <a:srgbClr val="888888"/>
                </a:solidFill>
                <a:latin typeface="Calibri" pitchFamily="34" charset="0"/>
                <a:ea typeface="Calibri" pitchFamily="34" charset="-122"/>
                <a:cs typeface="Calibri" pitchFamily="34" charset="-120"/>
              </a:rPr>
              <a:t>April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3"/>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rgbClr val="1C1C1E"/>
                </a:solidFill>
                <a:latin typeface="Calibri" pitchFamily="34" charset="0"/>
                <a:ea typeface="Calibri" pitchFamily="34" charset="-122"/>
                <a:cs typeface="Calibri" pitchFamily="34" charset="-120"/>
              </a:rPr>
              <a:t>The paradox, in plain English</a:t>
            </a:r>
            <a:endParaRPr lang="en-US" sz="3200" dirty="0"/>
          </a:p>
        </p:txBody>
      </p:sp>
      <p:sp>
        <p:nvSpPr>
          <p:cNvPr id="3" name="Text 1"/>
          <p:cNvSpPr/>
          <p:nvPr/>
        </p:nvSpPr>
        <p:spPr>
          <a:xfrm>
            <a:off x="457200" y="914400"/>
            <a:ext cx="8229600" cy="411480"/>
          </a:xfrm>
          <a:prstGeom prst="rect">
            <a:avLst/>
          </a:prstGeom>
          <a:noFill/>
          <a:ln/>
        </p:spPr>
        <p:txBody>
          <a:bodyPr wrap="square" lIns="0" tIns="0" rIns="0" bIns="0" rtlCol="0" anchor="ctr"/>
          <a:lstStyle/>
          <a:p>
            <a:pPr marL="0" indent="0">
              <a:buNone/>
            </a:pPr>
            <a:r>
              <a:rPr lang="en-US" sz="1500" dirty="0">
                <a:solidFill>
                  <a:srgbClr val="64748B"/>
                </a:solidFill>
                <a:latin typeface="Calibri" pitchFamily="34" charset="0"/>
                <a:ea typeface="Calibri" pitchFamily="34" charset="-122"/>
                <a:cs typeface="Calibri" pitchFamily="34" charset="-120"/>
              </a:rPr>
              <a:t>What the March 2026 jobs report told us — and what else happened that same month</a:t>
            </a:r>
            <a:endParaRPr lang="en-US" sz="1500" dirty="0"/>
          </a:p>
        </p:txBody>
      </p:sp>
      <p:sp>
        <p:nvSpPr>
          <p:cNvPr id="4" name="Shape 2"/>
          <p:cNvSpPr/>
          <p:nvPr/>
        </p:nvSpPr>
        <p:spPr>
          <a:xfrm>
            <a:off x="365760" y="1417320"/>
            <a:ext cx="1920240" cy="164592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5" name="Text 3"/>
          <p:cNvSpPr/>
          <p:nvPr/>
        </p:nvSpPr>
        <p:spPr>
          <a:xfrm>
            <a:off x="438912" y="1508760"/>
            <a:ext cx="1773936" cy="685800"/>
          </a:xfrm>
          <a:prstGeom prst="rect">
            <a:avLst/>
          </a:prstGeom>
          <a:noFill/>
          <a:ln/>
        </p:spPr>
        <p:txBody>
          <a:bodyPr wrap="square" rtlCol="0" anchor="ctr"/>
          <a:lstStyle/>
          <a:p>
            <a:pPr marL="0" indent="0" algn="ctr">
              <a:buNone/>
            </a:pPr>
            <a:r>
              <a:rPr lang="en-US" sz="3000" b="1" dirty="0">
                <a:solidFill>
                  <a:srgbClr val="1C2B4A"/>
                </a:solidFill>
                <a:latin typeface="Calibri" pitchFamily="34" charset="0"/>
                <a:ea typeface="Calibri" pitchFamily="34" charset="-122"/>
                <a:cs typeface="Calibri" pitchFamily="34" charset="-120"/>
              </a:rPr>
              <a:t>+178,000</a:t>
            </a:r>
            <a:endParaRPr lang="en-US" sz="3000" dirty="0"/>
          </a:p>
        </p:txBody>
      </p:sp>
      <p:sp>
        <p:nvSpPr>
          <p:cNvPr id="6" name="Text 4"/>
          <p:cNvSpPr/>
          <p:nvPr/>
        </p:nvSpPr>
        <p:spPr>
          <a:xfrm>
            <a:off x="438912" y="2176272"/>
            <a:ext cx="1773936" cy="731520"/>
          </a:xfrm>
          <a:prstGeom prst="rect">
            <a:avLst/>
          </a:prstGeom>
          <a:noFill/>
          <a:ln/>
        </p:spPr>
        <p:txBody>
          <a:bodyPr wrap="square" rtlCol="0" anchor="ctr"/>
          <a:lstStyle/>
          <a:p>
            <a:pPr marL="0" indent="0" algn="ctr">
              <a:buNone/>
            </a:pPr>
            <a:r>
              <a:rPr lang="en-US" sz="1100" dirty="0">
                <a:solidFill>
                  <a:srgbClr val="36454F"/>
                </a:solidFill>
                <a:latin typeface="Calibri" pitchFamily="34" charset="0"/>
                <a:ea typeface="Calibri" pitchFamily="34" charset="-122"/>
                <a:cs typeface="Calibri" pitchFamily="34" charset="-120"/>
              </a:rPr>
              <a:t>Official jobs added</a:t>
            </a:r>
            <a:endParaRPr lang="en-US" sz="1100" dirty="0"/>
          </a:p>
          <a:p>
            <a:pPr marL="0" indent="0" algn="ctr">
              <a:buNone/>
            </a:pPr>
            <a:r>
              <a:rPr lang="en-US" sz="1100" dirty="0">
                <a:solidFill>
                  <a:srgbClr val="36454F"/>
                </a:solidFill>
                <a:latin typeface="Calibri" pitchFamily="34" charset="0"/>
                <a:ea typeface="Calibri" pitchFamily="34" charset="-122"/>
                <a:cs typeface="Calibri" pitchFamily="34" charset="-120"/>
              </a:rPr>
              <a:t>(BLS establishment survey)</a:t>
            </a:r>
            <a:endParaRPr lang="en-US" sz="1100" dirty="0"/>
          </a:p>
        </p:txBody>
      </p:sp>
      <p:sp>
        <p:nvSpPr>
          <p:cNvPr id="7" name="Shape 5"/>
          <p:cNvSpPr/>
          <p:nvPr/>
        </p:nvSpPr>
        <p:spPr>
          <a:xfrm>
            <a:off x="2514600" y="1417320"/>
            <a:ext cx="1920240" cy="164592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8" name="Text 6"/>
          <p:cNvSpPr/>
          <p:nvPr/>
        </p:nvSpPr>
        <p:spPr>
          <a:xfrm>
            <a:off x="2587752" y="1508760"/>
            <a:ext cx="1773936" cy="685800"/>
          </a:xfrm>
          <a:prstGeom prst="rect">
            <a:avLst/>
          </a:prstGeom>
          <a:noFill/>
          <a:ln/>
        </p:spPr>
        <p:txBody>
          <a:bodyPr wrap="square" rtlCol="0" anchor="ctr"/>
          <a:lstStyle/>
          <a:p>
            <a:pPr marL="0" indent="0" algn="ctr">
              <a:buNone/>
            </a:pPr>
            <a:r>
              <a:rPr lang="en-US" sz="3000" b="1" dirty="0">
                <a:solidFill>
                  <a:srgbClr val="1C2B4A"/>
                </a:solidFill>
                <a:latin typeface="Calibri" pitchFamily="34" charset="0"/>
                <a:ea typeface="Calibri" pitchFamily="34" charset="-122"/>
                <a:cs typeface="Calibri" pitchFamily="34" charset="-120"/>
              </a:rPr>
              <a:t>4.3%</a:t>
            </a:r>
            <a:endParaRPr lang="en-US" sz="3000" dirty="0"/>
          </a:p>
        </p:txBody>
      </p:sp>
      <p:sp>
        <p:nvSpPr>
          <p:cNvPr id="9" name="Text 7"/>
          <p:cNvSpPr/>
          <p:nvPr/>
        </p:nvSpPr>
        <p:spPr>
          <a:xfrm>
            <a:off x="2587752" y="2176272"/>
            <a:ext cx="1773936" cy="731520"/>
          </a:xfrm>
          <a:prstGeom prst="rect">
            <a:avLst/>
          </a:prstGeom>
          <a:noFill/>
          <a:ln/>
        </p:spPr>
        <p:txBody>
          <a:bodyPr wrap="square" rtlCol="0" anchor="ctr"/>
          <a:lstStyle/>
          <a:p>
            <a:pPr marL="0" indent="0" algn="ctr">
              <a:buNone/>
            </a:pPr>
            <a:r>
              <a:rPr lang="en-US" sz="1100" dirty="0">
                <a:solidFill>
                  <a:srgbClr val="36454F"/>
                </a:solidFill>
                <a:latin typeface="Calibri" pitchFamily="34" charset="0"/>
                <a:ea typeface="Calibri" pitchFamily="34" charset="-122"/>
                <a:cs typeface="Calibri" pitchFamily="34" charset="-120"/>
              </a:rPr>
              <a:t>Unemployment rate</a:t>
            </a:r>
            <a:endParaRPr lang="en-US" sz="1100" dirty="0"/>
          </a:p>
          <a:p>
            <a:pPr marL="0" indent="0" algn="ctr">
              <a:buNone/>
            </a:pPr>
            <a:r>
              <a:rPr lang="en-US" sz="1100" dirty="0">
                <a:solidFill>
                  <a:srgbClr val="36454F"/>
                </a:solidFill>
                <a:latin typeface="Calibri" pitchFamily="34" charset="0"/>
                <a:ea typeface="Calibri" pitchFamily="34" charset="-122"/>
                <a:cs typeface="Calibri" pitchFamily="34" charset="-120"/>
              </a:rPr>
              <a:t>(little changed)</a:t>
            </a:r>
            <a:endParaRPr lang="en-US" sz="1100" dirty="0"/>
          </a:p>
        </p:txBody>
      </p:sp>
      <p:sp>
        <p:nvSpPr>
          <p:cNvPr id="10" name="Shape 8"/>
          <p:cNvSpPr/>
          <p:nvPr/>
        </p:nvSpPr>
        <p:spPr>
          <a:xfrm>
            <a:off x="4663440" y="1417320"/>
            <a:ext cx="1920240" cy="164592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11" name="Text 9"/>
          <p:cNvSpPr/>
          <p:nvPr/>
        </p:nvSpPr>
        <p:spPr>
          <a:xfrm>
            <a:off x="4736592" y="1508760"/>
            <a:ext cx="1773936" cy="685800"/>
          </a:xfrm>
          <a:prstGeom prst="rect">
            <a:avLst/>
          </a:prstGeom>
          <a:noFill/>
          <a:ln/>
        </p:spPr>
        <p:txBody>
          <a:bodyPr wrap="square" rtlCol="0" anchor="ctr"/>
          <a:lstStyle/>
          <a:p>
            <a:pPr marL="0" indent="0" algn="ctr">
              <a:buNone/>
            </a:pPr>
            <a:r>
              <a:rPr lang="en-US" sz="3000" b="1" dirty="0">
                <a:solidFill>
                  <a:srgbClr val="D0291A"/>
                </a:solidFill>
                <a:latin typeface="Calibri" pitchFamily="34" charset="0"/>
                <a:ea typeface="Calibri" pitchFamily="34" charset="-122"/>
                <a:cs typeface="Calibri" pitchFamily="34" charset="-120"/>
              </a:rPr>
              <a:t>−396,000</a:t>
            </a:r>
            <a:endParaRPr lang="en-US" sz="3000" dirty="0"/>
          </a:p>
        </p:txBody>
      </p:sp>
      <p:sp>
        <p:nvSpPr>
          <p:cNvPr id="12" name="Text 10"/>
          <p:cNvSpPr/>
          <p:nvPr/>
        </p:nvSpPr>
        <p:spPr>
          <a:xfrm>
            <a:off x="4736592" y="2176272"/>
            <a:ext cx="1773936" cy="731520"/>
          </a:xfrm>
          <a:prstGeom prst="rect">
            <a:avLst/>
          </a:prstGeom>
          <a:noFill/>
          <a:ln/>
        </p:spPr>
        <p:txBody>
          <a:bodyPr wrap="square" rtlCol="0" anchor="ctr"/>
          <a:lstStyle/>
          <a:p>
            <a:pPr marL="0" indent="0" algn="ctr">
              <a:buNone/>
            </a:pPr>
            <a:r>
              <a:rPr lang="en-US" sz="1100" dirty="0">
                <a:solidFill>
                  <a:srgbClr val="36454F"/>
                </a:solidFill>
                <a:latin typeface="Calibri" pitchFamily="34" charset="0"/>
                <a:ea typeface="Calibri" pitchFamily="34" charset="-122"/>
                <a:cs typeface="Calibri" pitchFamily="34" charset="-120"/>
              </a:rPr>
              <a:t>Labor force</a:t>
            </a:r>
            <a:endParaRPr lang="en-US" sz="1100" dirty="0"/>
          </a:p>
          <a:p>
            <a:pPr marL="0" indent="0" algn="ctr">
              <a:buNone/>
            </a:pPr>
            <a:r>
              <a:rPr lang="en-US" sz="1100" dirty="0">
                <a:solidFill>
                  <a:srgbClr val="36454F"/>
                </a:solidFill>
                <a:latin typeface="Calibri" pitchFamily="34" charset="0"/>
                <a:ea typeface="Calibri" pitchFamily="34" charset="-122"/>
                <a:cs typeface="Calibri" pitchFamily="34" charset="-120"/>
              </a:rPr>
              <a:t>shrinkage (same report)</a:t>
            </a:r>
            <a:endParaRPr lang="en-US" sz="1100" dirty="0"/>
          </a:p>
        </p:txBody>
      </p:sp>
      <p:sp>
        <p:nvSpPr>
          <p:cNvPr id="13" name="Shape 11"/>
          <p:cNvSpPr/>
          <p:nvPr/>
        </p:nvSpPr>
        <p:spPr>
          <a:xfrm>
            <a:off x="6812280" y="1417320"/>
            <a:ext cx="1920240" cy="164592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14" name="Text 12"/>
          <p:cNvSpPr/>
          <p:nvPr/>
        </p:nvSpPr>
        <p:spPr>
          <a:xfrm>
            <a:off x="6885432" y="1508760"/>
            <a:ext cx="1773936" cy="685800"/>
          </a:xfrm>
          <a:prstGeom prst="rect">
            <a:avLst/>
          </a:prstGeom>
          <a:noFill/>
          <a:ln/>
        </p:spPr>
        <p:txBody>
          <a:bodyPr wrap="square" rtlCol="0" anchor="ctr"/>
          <a:lstStyle/>
          <a:p>
            <a:pPr marL="0" indent="0" algn="ctr">
              <a:buNone/>
            </a:pPr>
            <a:r>
              <a:rPr lang="en-US" sz="3000" b="1" dirty="0">
                <a:solidFill>
                  <a:srgbClr val="D0291A"/>
                </a:solidFill>
                <a:latin typeface="Calibri" pitchFamily="34" charset="0"/>
                <a:ea typeface="Calibri" pitchFamily="34" charset="-122"/>
                <a:cs typeface="Calibri" pitchFamily="34" charset="-120"/>
              </a:rPr>
              <a:t>60,620</a:t>
            </a:r>
            <a:endParaRPr lang="en-US" sz="3000" dirty="0"/>
          </a:p>
        </p:txBody>
      </p:sp>
      <p:sp>
        <p:nvSpPr>
          <p:cNvPr id="15" name="Text 13"/>
          <p:cNvSpPr/>
          <p:nvPr/>
        </p:nvSpPr>
        <p:spPr>
          <a:xfrm>
            <a:off x="6885432" y="2176272"/>
            <a:ext cx="1773936" cy="731520"/>
          </a:xfrm>
          <a:prstGeom prst="rect">
            <a:avLst/>
          </a:prstGeom>
          <a:noFill/>
          <a:ln/>
        </p:spPr>
        <p:txBody>
          <a:bodyPr wrap="square" rtlCol="0" anchor="ctr"/>
          <a:lstStyle/>
          <a:p>
            <a:pPr marL="0" indent="0" algn="ctr">
              <a:buNone/>
            </a:pPr>
            <a:r>
              <a:rPr lang="en-US" sz="1100" dirty="0">
                <a:solidFill>
                  <a:srgbClr val="36454F"/>
                </a:solidFill>
                <a:latin typeface="Calibri" pitchFamily="34" charset="0"/>
                <a:ea typeface="Calibri" pitchFamily="34" charset="-122"/>
                <a:cs typeface="Calibri" pitchFamily="34" charset="-120"/>
              </a:rPr>
              <a:t>Job cuts announced</a:t>
            </a:r>
            <a:endParaRPr lang="en-US" sz="1100" dirty="0"/>
          </a:p>
          <a:p>
            <a:pPr marL="0" indent="0" algn="ctr">
              <a:buNone/>
            </a:pPr>
            <a:r>
              <a:rPr lang="en-US" sz="1100" dirty="0">
                <a:solidFill>
                  <a:srgbClr val="36454F"/>
                </a:solidFill>
                <a:latin typeface="Calibri" pitchFamily="34" charset="0"/>
                <a:ea typeface="Calibri" pitchFamily="34" charset="-122"/>
                <a:cs typeface="Calibri" pitchFamily="34" charset="-120"/>
              </a:rPr>
              <a:t>(Challenger)</a:t>
            </a:r>
            <a:endParaRPr lang="en-US" sz="1100" dirty="0"/>
          </a:p>
        </p:txBody>
      </p:sp>
      <p:sp>
        <p:nvSpPr>
          <p:cNvPr id="16" name="Text 14"/>
          <p:cNvSpPr/>
          <p:nvPr/>
        </p:nvSpPr>
        <p:spPr>
          <a:xfrm>
            <a:off x="365760" y="3246120"/>
            <a:ext cx="8412480" cy="365760"/>
          </a:xfrm>
          <a:prstGeom prst="rect">
            <a:avLst/>
          </a:prstGeom>
          <a:noFill/>
          <a:ln/>
        </p:spPr>
        <p:txBody>
          <a:bodyPr wrap="square"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+219,000 weekly unemployment claims     |     Federal hiring data showed low activity     |     Companies announced 60,620 job cuts</a:t>
            </a:r>
            <a:endParaRPr lang="en-US" sz="1200" dirty="0"/>
          </a:p>
        </p:txBody>
      </p:sp>
      <p:sp>
        <p:nvSpPr>
          <p:cNvPr id="17" name="Text 15"/>
          <p:cNvSpPr/>
          <p:nvPr/>
        </p:nvSpPr>
        <p:spPr>
          <a:xfrm>
            <a:off x="457200" y="3749040"/>
            <a:ext cx="8229600" cy="822960"/>
          </a:xfrm>
          <a:prstGeom prst="rect">
            <a:avLst/>
          </a:prstGeom>
          <a:noFill/>
          <a:ln/>
        </p:spPr>
        <p:txBody>
          <a:bodyPr wrap="square" rtlCol="0" anchor="ctr"/>
          <a:lstStyle/>
          <a:p>
            <a:pPr marL="0" indent="0">
              <a:buNone/>
            </a:pPr>
            <a:r>
              <a:rPr lang="en-US" sz="1400" i="1" dirty="0">
                <a:solidFill>
                  <a:srgbClr val="1C2B4A"/>
                </a:solidFill>
                <a:latin typeface="Calibri" pitchFamily="34" charset="0"/>
                <a:ea typeface="Calibri" pitchFamily="34" charset="-122"/>
                <a:cs typeface="Calibri" pitchFamily="34" charset="-120"/>
              </a:rPr>
              <a:t>"So just to be clear — unemployment claims rose, companies cut jobs, the labor force shrank… and yet the official jobs figure went… up"</a:t>
            </a:r>
            <a:endParaRPr lang="en-US" sz="1400" dirty="0"/>
          </a:p>
        </p:txBody>
      </p:sp>
      <p:sp>
        <p:nvSpPr>
          <p:cNvPr id="18" name="Text 16"/>
          <p:cNvSpPr/>
          <p:nvPr/>
        </p:nvSpPr>
        <p:spPr>
          <a:xfrm>
            <a:off x="365760" y="4800600"/>
            <a:ext cx="7315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Source: BLS Employment Situation Mar 2026, Challenger Gray &amp; Christmas</a:t>
            </a:r>
            <a:endParaRPr lang="en-US" sz="900" dirty="0"/>
          </a:p>
        </p:txBody>
      </p:sp>
      <p:sp>
        <p:nvSpPr>
          <p:cNvPr id="19" name="Text 17"/>
          <p:cNvSpPr/>
          <p:nvPr/>
        </p:nvSpPr>
        <p:spPr>
          <a:xfrm>
            <a:off x="8595360" y="4800600"/>
            <a:ext cx="457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3"/>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rgbClr val="1C1C1E"/>
                </a:solidFill>
                <a:latin typeface="Calibri" pitchFamily="34" charset="0"/>
                <a:ea typeface="Calibri" pitchFamily="34" charset="-122"/>
                <a:cs typeface="Calibri" pitchFamily="34" charset="-120"/>
              </a:rPr>
              <a:t>One market, two very different pictures</a:t>
            </a:r>
            <a:endParaRPr lang="en-US" sz="3200" dirty="0"/>
          </a:p>
        </p:txBody>
      </p:sp>
      <p:sp>
        <p:nvSpPr>
          <p:cNvPr id="3" name="Text 1"/>
          <p:cNvSpPr/>
          <p:nvPr/>
        </p:nvSpPr>
        <p:spPr>
          <a:xfrm>
            <a:off x="457200" y="914400"/>
            <a:ext cx="8229600" cy="411480"/>
          </a:xfrm>
          <a:prstGeom prst="rect">
            <a:avLst/>
          </a:prstGeom>
          <a:noFill/>
          <a:ln/>
        </p:spPr>
        <p:txBody>
          <a:bodyPr wrap="square" lIns="0" tIns="0" rIns="0" bIns="0" rtlCol="0" anchor="ctr"/>
          <a:lstStyle/>
          <a:p>
            <a:pPr marL="0" indent="0">
              <a:buNone/>
            </a:pPr>
            <a:r>
              <a:rPr lang="en-US" sz="1500" dirty="0">
                <a:solidFill>
                  <a:srgbClr val="64748B"/>
                </a:solidFill>
                <a:latin typeface="Calibri" pitchFamily="34" charset="0"/>
                <a:ea typeface="Calibri" pitchFamily="34" charset="-122"/>
                <a:cs typeface="Calibri" pitchFamily="34" charset="-120"/>
              </a:rPr>
              <a:t>The BLS uses two separate surveys — they frequently disagree</a:t>
            </a:r>
            <a:endParaRPr lang="en-US" sz="1500" dirty="0"/>
          </a:p>
        </p:txBody>
      </p:sp>
      <p:sp>
        <p:nvSpPr>
          <p:cNvPr id="4" name="Shape 2"/>
          <p:cNvSpPr/>
          <p:nvPr/>
        </p:nvSpPr>
        <p:spPr>
          <a:xfrm>
            <a:off x="365760" y="1325880"/>
            <a:ext cx="4114800" cy="338328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5" name="Shape 3"/>
          <p:cNvSpPr/>
          <p:nvPr/>
        </p:nvSpPr>
        <p:spPr>
          <a:xfrm>
            <a:off x="365760" y="1325880"/>
            <a:ext cx="4114800" cy="457200"/>
          </a:xfrm>
          <a:prstGeom prst="rect">
            <a:avLst/>
          </a:prstGeom>
          <a:solidFill>
            <a:srgbClr val="1C2B4A"/>
          </a:solidFill>
          <a:ln/>
        </p:spPr>
        <p:txBody>
          <a:bodyPr/>
          <a:lstStyle/>
          <a:p>
            <a:endParaRPr lang="en-US"/>
          </a:p>
        </p:txBody>
      </p:sp>
      <p:sp>
        <p:nvSpPr>
          <p:cNvPr id="6" name="Text 4"/>
          <p:cNvSpPr/>
          <p:nvPr/>
        </p:nvSpPr>
        <p:spPr>
          <a:xfrm>
            <a:off x="502920" y="1371600"/>
            <a:ext cx="384048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Establishment Survey</a:t>
            </a:r>
            <a:endParaRPr lang="en-US" sz="1400" dirty="0"/>
          </a:p>
        </p:txBody>
      </p:sp>
      <p:sp>
        <p:nvSpPr>
          <p:cNvPr id="7" name="Text 5"/>
          <p:cNvSpPr/>
          <p:nvPr/>
        </p:nvSpPr>
        <p:spPr>
          <a:xfrm>
            <a:off x="502920" y="1874520"/>
            <a:ext cx="3840480" cy="320040"/>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Payroll data from 119,000 businesses</a:t>
            </a:r>
            <a:endParaRPr lang="en-US" sz="1100" dirty="0"/>
          </a:p>
        </p:txBody>
      </p:sp>
      <p:sp>
        <p:nvSpPr>
          <p:cNvPr id="8" name="Text 6"/>
          <p:cNvSpPr/>
          <p:nvPr/>
        </p:nvSpPr>
        <p:spPr>
          <a:xfrm>
            <a:off x="548640" y="2240280"/>
            <a:ext cx="3749040" cy="2331720"/>
          </a:xfrm>
          <a:prstGeom prst="rect">
            <a:avLst/>
          </a:prstGeom>
          <a:noFill/>
          <a:ln/>
        </p:spPr>
        <p:txBody>
          <a:bodyPr wrap="square" rtlCol="0" anchor="t"/>
          <a:lstStyle/>
          <a:p>
            <a:pPr marL="342900" indent="-342900">
              <a:buSzPct val="100000"/>
              <a:buChar char="•"/>
            </a:pPr>
            <a:r>
              <a:rPr lang="en-US" sz="1200" dirty="0">
                <a:solidFill>
                  <a:srgbClr val="36454F"/>
                </a:solidFill>
                <a:latin typeface="Calibri" pitchFamily="34" charset="0"/>
                <a:ea typeface="Calibri" pitchFamily="34" charset="-122"/>
                <a:cs typeface="Calibri" pitchFamily="34" charset="-120"/>
              </a:rPr>
              <a:t>Sample: ~119,000 worksites</a:t>
            </a:r>
            <a:endParaRPr lang="en-US" sz="1200" dirty="0"/>
          </a:p>
          <a:p>
            <a:pPr marL="342900" indent="-342900">
              <a:buSzPct val="100000"/>
              <a:buChar char="•"/>
            </a:pPr>
            <a:r>
              <a:rPr lang="en-US" sz="1200" dirty="0">
                <a:solidFill>
                  <a:srgbClr val="36454F"/>
                </a:solidFill>
                <a:latin typeface="Calibri" pitchFamily="34" charset="0"/>
                <a:ea typeface="Calibri" pitchFamily="34" charset="-122"/>
                <a:cs typeface="Calibri" pitchFamily="34" charset="-120"/>
              </a:rPr>
              <a:t>Measures: Jobs at companies</a:t>
            </a:r>
            <a:endParaRPr lang="en-US" sz="1200" dirty="0"/>
          </a:p>
          <a:p>
            <a:pPr marL="342900" indent="-342900">
              <a:buSzPct val="100000"/>
              <a:buChar char="•"/>
            </a:pPr>
            <a:r>
              <a:rPr lang="en-US" sz="1200" dirty="0">
                <a:solidFill>
                  <a:srgbClr val="36454F"/>
                </a:solidFill>
                <a:latin typeface="Calibri" pitchFamily="34" charset="0"/>
                <a:ea typeface="Calibri" pitchFamily="34" charset="-122"/>
                <a:cs typeface="Calibri" pitchFamily="34" charset="-120"/>
              </a:rPr>
              <a:t>March 2026: +178,000 jobs</a:t>
            </a:r>
            <a:endParaRPr lang="en-US" sz="1200" dirty="0"/>
          </a:p>
          <a:p>
            <a:pPr marL="342900" indent="-342900">
              <a:buSzPct val="100000"/>
              <a:buChar char="•"/>
            </a:pPr>
            <a:r>
              <a:rPr lang="en-US" sz="1200" dirty="0">
                <a:solidFill>
                  <a:srgbClr val="36454F"/>
                </a:solidFill>
                <a:latin typeface="Calibri" pitchFamily="34" charset="0"/>
                <a:ea typeface="Calibri" pitchFamily="34" charset="-122"/>
                <a:cs typeface="Calibri" pitchFamily="34" charset="-120"/>
              </a:rPr>
              <a:t>Advantage: Low margin of error</a:t>
            </a:r>
            <a:endParaRPr lang="en-US" sz="1200" dirty="0"/>
          </a:p>
          <a:p>
            <a:pPr marL="342900" indent="-342900">
              <a:buSzPct val="100000"/>
              <a:buChar char="•"/>
            </a:pPr>
            <a:r>
              <a:rPr lang="en-US" sz="1200" dirty="0">
                <a:solidFill>
                  <a:srgbClr val="36454F"/>
                </a:solidFill>
                <a:latin typeface="Calibri" pitchFamily="34" charset="0"/>
                <a:ea typeface="Calibri" pitchFamily="34" charset="-122"/>
                <a:cs typeface="Calibri" pitchFamily="34" charset="-120"/>
              </a:rPr>
              <a:t>Blind spot: Misses self-employed,</a:t>
            </a:r>
            <a:endParaRPr lang="en-US" sz="1200" dirty="0"/>
          </a:p>
          <a:p>
            <a:pPr marL="342900" indent="-342900">
              <a:buSzPct val="100000"/>
              <a:buChar char="•"/>
            </a:pPr>
            <a:r>
              <a:rPr lang="en-US" sz="1200" dirty="0">
                <a:solidFill>
                  <a:srgbClr val="36454F"/>
                </a:solidFill>
                <a:latin typeface="Calibri" pitchFamily="34" charset="0"/>
                <a:ea typeface="Calibri" pitchFamily="34" charset="-122"/>
                <a:cs typeface="Calibri" pitchFamily="34" charset="-120"/>
              </a:rPr>
              <a:t>part-timers, gig workers</a:t>
            </a:r>
            <a:endParaRPr lang="en-US" sz="1200" dirty="0"/>
          </a:p>
        </p:txBody>
      </p:sp>
      <p:sp>
        <p:nvSpPr>
          <p:cNvPr id="9" name="Shape 7"/>
          <p:cNvSpPr/>
          <p:nvPr/>
        </p:nvSpPr>
        <p:spPr>
          <a:xfrm>
            <a:off x="4709160" y="1325880"/>
            <a:ext cx="4114800" cy="338328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0" name="Shape 8"/>
          <p:cNvSpPr/>
          <p:nvPr/>
        </p:nvSpPr>
        <p:spPr>
          <a:xfrm>
            <a:off x="4709160" y="1325880"/>
            <a:ext cx="4114800" cy="457200"/>
          </a:xfrm>
          <a:prstGeom prst="rect">
            <a:avLst/>
          </a:prstGeom>
          <a:solidFill>
            <a:srgbClr val="D0291A"/>
          </a:solidFill>
          <a:ln/>
        </p:spPr>
        <p:txBody>
          <a:bodyPr/>
          <a:lstStyle/>
          <a:p>
            <a:endParaRPr lang="en-US"/>
          </a:p>
        </p:txBody>
      </p:sp>
      <p:sp>
        <p:nvSpPr>
          <p:cNvPr id="11" name="Text 9"/>
          <p:cNvSpPr/>
          <p:nvPr/>
        </p:nvSpPr>
        <p:spPr>
          <a:xfrm>
            <a:off x="4846320" y="1371600"/>
            <a:ext cx="384048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Household Survey</a:t>
            </a:r>
            <a:endParaRPr lang="en-US" sz="1400" dirty="0"/>
          </a:p>
        </p:txBody>
      </p:sp>
      <p:sp>
        <p:nvSpPr>
          <p:cNvPr id="12" name="Text 10"/>
          <p:cNvSpPr/>
          <p:nvPr/>
        </p:nvSpPr>
        <p:spPr>
          <a:xfrm>
            <a:off x="4846320" y="1874520"/>
            <a:ext cx="3840480" cy="320040"/>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Phone survey of 60,000 families</a:t>
            </a:r>
            <a:endParaRPr lang="en-US" sz="1100" dirty="0"/>
          </a:p>
        </p:txBody>
      </p:sp>
      <p:sp>
        <p:nvSpPr>
          <p:cNvPr id="13" name="Text 11"/>
          <p:cNvSpPr/>
          <p:nvPr/>
        </p:nvSpPr>
        <p:spPr>
          <a:xfrm>
            <a:off x="4892040" y="2240280"/>
            <a:ext cx="3749040" cy="2331720"/>
          </a:xfrm>
          <a:prstGeom prst="rect">
            <a:avLst/>
          </a:prstGeom>
          <a:noFill/>
          <a:ln/>
        </p:spPr>
        <p:txBody>
          <a:bodyPr wrap="square" rtlCol="0" anchor="t"/>
          <a:lstStyle/>
          <a:p>
            <a:pPr marL="342900" indent="-342900">
              <a:buSzPct val="100000"/>
              <a:buChar char="•"/>
            </a:pPr>
            <a:r>
              <a:rPr lang="en-US" sz="1200" dirty="0">
                <a:solidFill>
                  <a:srgbClr val="36454F"/>
                </a:solidFill>
                <a:latin typeface="Calibri" pitchFamily="34" charset="0"/>
                <a:ea typeface="Calibri" pitchFamily="34" charset="-122"/>
                <a:cs typeface="Calibri" pitchFamily="34" charset="-120"/>
              </a:rPr>
              <a:t>Sample: ~60,000 households</a:t>
            </a:r>
            <a:endParaRPr lang="en-US" sz="1200" dirty="0"/>
          </a:p>
          <a:p>
            <a:pPr marL="342900" indent="-342900">
              <a:buSzPct val="100000"/>
              <a:buChar char="•"/>
            </a:pPr>
            <a:r>
              <a:rPr lang="en-US" sz="1200" dirty="0">
                <a:solidFill>
                  <a:srgbClr val="36454F"/>
                </a:solidFill>
                <a:latin typeface="Calibri" pitchFamily="34" charset="0"/>
                <a:ea typeface="Calibri" pitchFamily="34" charset="-122"/>
                <a:cs typeface="Calibri" pitchFamily="34" charset="-120"/>
              </a:rPr>
              <a:t>Measures: People who have jobs</a:t>
            </a:r>
            <a:endParaRPr lang="en-US" sz="1200" dirty="0"/>
          </a:p>
          <a:p>
            <a:pPr marL="342900" indent="-342900">
              <a:buSzPct val="100000"/>
              <a:buChar char="•"/>
            </a:pPr>
            <a:r>
              <a:rPr lang="en-US" sz="1200" dirty="0">
                <a:solidFill>
                  <a:srgbClr val="36454F"/>
                </a:solidFill>
                <a:latin typeface="Calibri" pitchFamily="34" charset="0"/>
                <a:ea typeface="Calibri" pitchFamily="34" charset="-122"/>
                <a:cs typeface="Calibri" pitchFamily="34" charset="-120"/>
              </a:rPr>
              <a:t>March 2026: Labor force −396,000</a:t>
            </a:r>
            <a:endParaRPr lang="en-US" sz="1200" dirty="0"/>
          </a:p>
          <a:p>
            <a:pPr marL="342900" indent="-342900">
              <a:buSzPct val="100000"/>
              <a:buChar char="•"/>
            </a:pPr>
            <a:r>
              <a:rPr lang="en-US" sz="1200" dirty="0">
                <a:solidFill>
                  <a:srgbClr val="36454F"/>
                </a:solidFill>
                <a:latin typeface="Calibri" pitchFamily="34" charset="0"/>
                <a:ea typeface="Calibri" pitchFamily="34" charset="-122"/>
                <a:cs typeface="Calibri" pitchFamily="34" charset="-120"/>
              </a:rPr>
              <a:t>Advantage: Captures gig/informal work</a:t>
            </a:r>
            <a:endParaRPr lang="en-US" sz="1200" dirty="0"/>
          </a:p>
          <a:p>
            <a:pPr marL="342900" indent="-342900">
              <a:buSzPct val="100000"/>
              <a:buChar char="•"/>
            </a:pPr>
            <a:r>
              <a:rPr lang="en-US" sz="1200" dirty="0">
                <a:solidFill>
                  <a:srgbClr val="36454F"/>
                </a:solidFill>
                <a:latin typeface="Calibri" pitchFamily="34" charset="0"/>
                <a:ea typeface="Calibri" pitchFamily="34" charset="-122"/>
                <a:cs typeface="Calibri" pitchFamily="34" charset="-120"/>
              </a:rPr>
              <a:t>Blind spot: Margin of error ~650,000</a:t>
            </a:r>
            <a:endParaRPr lang="en-US" sz="1200" dirty="0"/>
          </a:p>
          <a:p>
            <a:pPr marL="342900" indent="-342900">
              <a:buSzPct val="100000"/>
              <a:buChar char="•"/>
            </a:pPr>
            <a:r>
              <a:rPr lang="en-US" sz="1200" dirty="0">
                <a:solidFill>
                  <a:srgbClr val="36454F"/>
                </a:solidFill>
                <a:latin typeface="Calibri" pitchFamily="34" charset="0"/>
                <a:ea typeface="Calibri" pitchFamily="34" charset="-122"/>
                <a:cs typeface="Calibri" pitchFamily="34" charset="-120"/>
              </a:rPr>
              <a:t>— nearly 4× the reported gain</a:t>
            </a:r>
            <a:endParaRPr lang="en-US" sz="1200" dirty="0"/>
          </a:p>
        </p:txBody>
      </p:sp>
      <p:sp>
        <p:nvSpPr>
          <p:cNvPr id="14" name="Text 12"/>
          <p:cNvSpPr/>
          <p:nvPr/>
        </p:nvSpPr>
        <p:spPr>
          <a:xfrm>
            <a:off x="365760" y="4800600"/>
            <a:ext cx="7315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Source: BLS Employment Situation Technical Notes</a:t>
            </a:r>
            <a:endParaRPr lang="en-US" sz="900" dirty="0"/>
          </a:p>
        </p:txBody>
      </p:sp>
      <p:sp>
        <p:nvSpPr>
          <p:cNvPr id="15" name="Text 13"/>
          <p:cNvSpPr/>
          <p:nvPr/>
        </p:nvSpPr>
        <p:spPr>
          <a:xfrm>
            <a:off x="8595360" y="4800600"/>
            <a:ext cx="457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3"/>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rgbClr val="1C1C1E"/>
                </a:solidFill>
                <a:latin typeface="Calibri" pitchFamily="34" charset="0"/>
                <a:ea typeface="Calibri" pitchFamily="34" charset="-122"/>
                <a:cs typeface="Calibri" pitchFamily="34" charset="-120"/>
              </a:rPr>
              <a:t>The "low-hire, low-fire" labor market</a:t>
            </a:r>
            <a:endParaRPr lang="en-US" sz="3200" dirty="0"/>
          </a:p>
        </p:txBody>
      </p:sp>
      <p:sp>
        <p:nvSpPr>
          <p:cNvPr id="3" name="Text 1"/>
          <p:cNvSpPr/>
          <p:nvPr/>
        </p:nvSpPr>
        <p:spPr>
          <a:xfrm>
            <a:off x="457200" y="914400"/>
            <a:ext cx="8229600" cy="411480"/>
          </a:xfrm>
          <a:prstGeom prst="rect">
            <a:avLst/>
          </a:prstGeom>
          <a:noFill/>
          <a:ln/>
        </p:spPr>
        <p:txBody>
          <a:bodyPr wrap="square" lIns="0" tIns="0" rIns="0" bIns="0" rtlCol="0" anchor="ctr"/>
          <a:lstStyle/>
          <a:p>
            <a:pPr marL="0" indent="0">
              <a:buNone/>
            </a:pPr>
            <a:r>
              <a:rPr lang="en-US" sz="1500" dirty="0">
                <a:solidFill>
                  <a:srgbClr val="64748B"/>
                </a:solidFill>
                <a:latin typeface="Calibri" pitchFamily="34" charset="0"/>
                <a:ea typeface="Calibri" pitchFamily="34" charset="-122"/>
                <a:cs typeface="Calibri" pitchFamily="34" charset="-120"/>
              </a:rPr>
              <a:t>Workers are staying put — but employers are barely adding new ones</a:t>
            </a:r>
            <a:endParaRPr lang="en-US" sz="1500" dirty="0"/>
          </a:p>
        </p:txBody>
      </p:sp>
      <p:graphicFrame>
        <p:nvGraphicFramePr>
          <p:cNvPr id="4" name="Chart 0"/>
          <p:cNvGraphicFramePr/>
          <p:nvPr/>
        </p:nvGraphicFramePr>
        <p:xfrm>
          <a:off x="365760" y="1325880"/>
          <a:ext cx="502920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669280" y="1325880"/>
            <a:ext cx="3246120" cy="713232"/>
          </a:xfrm>
          <a:prstGeom prst="rect">
            <a:avLst/>
          </a:prstGeom>
          <a:solidFill>
            <a:srgbClr val="FFFFFF"/>
          </a:solidFill>
          <a:ln/>
        </p:spPr>
        <p:txBody>
          <a:bodyPr/>
          <a:lstStyle/>
          <a:p>
            <a:endParaRPr lang="en-US"/>
          </a:p>
        </p:txBody>
      </p:sp>
      <p:sp>
        <p:nvSpPr>
          <p:cNvPr id="6" name="Shape 3"/>
          <p:cNvSpPr/>
          <p:nvPr/>
        </p:nvSpPr>
        <p:spPr>
          <a:xfrm>
            <a:off x="5669280" y="1325880"/>
            <a:ext cx="54864" cy="713232"/>
          </a:xfrm>
          <a:prstGeom prst="rect">
            <a:avLst/>
          </a:prstGeom>
          <a:solidFill>
            <a:srgbClr val="D0291A"/>
          </a:solidFill>
          <a:ln/>
        </p:spPr>
        <p:txBody>
          <a:bodyPr/>
          <a:lstStyle/>
          <a:p>
            <a:endParaRPr lang="en-US"/>
          </a:p>
        </p:txBody>
      </p:sp>
      <p:sp>
        <p:nvSpPr>
          <p:cNvPr id="7" name="Text 4"/>
          <p:cNvSpPr/>
          <p:nvPr/>
        </p:nvSpPr>
        <p:spPr>
          <a:xfrm>
            <a:off x="5806440" y="1371600"/>
            <a:ext cx="3017520" cy="237744"/>
          </a:xfrm>
          <a:prstGeom prst="rect">
            <a:avLst/>
          </a:prstGeom>
          <a:noFill/>
          <a:ln/>
        </p:spPr>
        <p:txBody>
          <a:bodyPr wrap="square"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Workers aren't quitting</a:t>
            </a:r>
            <a:endParaRPr lang="en-US" sz="1200" dirty="0"/>
          </a:p>
        </p:txBody>
      </p:sp>
      <p:sp>
        <p:nvSpPr>
          <p:cNvPr id="8" name="Text 5"/>
          <p:cNvSpPr/>
          <p:nvPr/>
        </p:nvSpPr>
        <p:spPr>
          <a:xfrm>
            <a:off x="5806440" y="1627632"/>
            <a:ext cx="3017520" cy="365760"/>
          </a:xfrm>
          <a:prstGeom prst="rect">
            <a:avLst/>
          </a:prstGeom>
          <a:noFill/>
          <a:ln/>
        </p:spPr>
        <p:txBody>
          <a:bodyPr wrap="square" rtlCol="0" anchor="ctr"/>
          <a:lstStyle/>
          <a:p>
            <a:pPr marL="0" indent="0">
              <a:buNone/>
            </a:pPr>
            <a:r>
              <a:rPr lang="en-US" sz="1000" dirty="0">
                <a:solidFill>
                  <a:srgbClr val="36454F"/>
                </a:solidFill>
                <a:latin typeface="Calibri" pitchFamily="34" charset="0"/>
                <a:ea typeface="Calibri" pitchFamily="34" charset="-122"/>
                <a:cs typeface="Calibri" pitchFamily="34" charset="-120"/>
              </a:rPr>
              <a:t>Quits rate near multi-year lows — people afraid to leave jobs</a:t>
            </a:r>
            <a:endParaRPr lang="en-US" sz="1000" dirty="0"/>
          </a:p>
        </p:txBody>
      </p:sp>
      <p:sp>
        <p:nvSpPr>
          <p:cNvPr id="9" name="Shape 6"/>
          <p:cNvSpPr/>
          <p:nvPr/>
        </p:nvSpPr>
        <p:spPr>
          <a:xfrm>
            <a:off x="5669280" y="2148840"/>
            <a:ext cx="3246120" cy="713232"/>
          </a:xfrm>
          <a:prstGeom prst="rect">
            <a:avLst/>
          </a:prstGeom>
          <a:solidFill>
            <a:srgbClr val="F0F4FA"/>
          </a:solidFill>
          <a:ln/>
        </p:spPr>
        <p:txBody>
          <a:bodyPr/>
          <a:lstStyle/>
          <a:p>
            <a:endParaRPr lang="en-US"/>
          </a:p>
        </p:txBody>
      </p:sp>
      <p:sp>
        <p:nvSpPr>
          <p:cNvPr id="10" name="Shape 7"/>
          <p:cNvSpPr/>
          <p:nvPr/>
        </p:nvSpPr>
        <p:spPr>
          <a:xfrm>
            <a:off x="5669280" y="2148840"/>
            <a:ext cx="54864" cy="713232"/>
          </a:xfrm>
          <a:prstGeom prst="rect">
            <a:avLst/>
          </a:prstGeom>
          <a:solidFill>
            <a:srgbClr val="D0291A"/>
          </a:solidFill>
          <a:ln/>
        </p:spPr>
        <p:txBody>
          <a:bodyPr/>
          <a:lstStyle/>
          <a:p>
            <a:endParaRPr lang="en-US"/>
          </a:p>
        </p:txBody>
      </p:sp>
      <p:sp>
        <p:nvSpPr>
          <p:cNvPr id="11" name="Text 8"/>
          <p:cNvSpPr/>
          <p:nvPr/>
        </p:nvSpPr>
        <p:spPr>
          <a:xfrm>
            <a:off x="5806440" y="2194560"/>
            <a:ext cx="3017520" cy="237744"/>
          </a:xfrm>
          <a:prstGeom prst="rect">
            <a:avLst/>
          </a:prstGeom>
          <a:noFill/>
          <a:ln/>
        </p:spPr>
        <p:txBody>
          <a:bodyPr wrap="square"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Employers aren't firing</a:t>
            </a:r>
            <a:endParaRPr lang="en-US" sz="1200" dirty="0"/>
          </a:p>
        </p:txBody>
      </p:sp>
      <p:sp>
        <p:nvSpPr>
          <p:cNvPr id="12" name="Text 9"/>
          <p:cNvSpPr/>
          <p:nvPr/>
        </p:nvSpPr>
        <p:spPr>
          <a:xfrm>
            <a:off x="5806440" y="2450592"/>
            <a:ext cx="3017520" cy="365760"/>
          </a:xfrm>
          <a:prstGeom prst="rect">
            <a:avLst/>
          </a:prstGeom>
          <a:noFill/>
          <a:ln/>
        </p:spPr>
        <p:txBody>
          <a:bodyPr wrap="square" rtlCol="0" anchor="ctr"/>
          <a:lstStyle/>
          <a:p>
            <a:pPr marL="0" indent="0">
              <a:buNone/>
            </a:pPr>
            <a:r>
              <a:rPr lang="en-US" sz="1000" dirty="0">
                <a:solidFill>
                  <a:srgbClr val="36454F"/>
                </a:solidFill>
                <a:latin typeface="Calibri" pitchFamily="34" charset="0"/>
                <a:ea typeface="Calibri" pitchFamily="34" charset="-122"/>
                <a:cs typeface="Calibri" pitchFamily="34" charset="-120"/>
              </a:rPr>
              <a:t>Layoff &amp; discharge rate also historically low — job security is real</a:t>
            </a:r>
            <a:endParaRPr lang="en-US" sz="1000" dirty="0"/>
          </a:p>
        </p:txBody>
      </p:sp>
      <p:sp>
        <p:nvSpPr>
          <p:cNvPr id="13" name="Shape 10"/>
          <p:cNvSpPr/>
          <p:nvPr/>
        </p:nvSpPr>
        <p:spPr>
          <a:xfrm>
            <a:off x="5669280" y="2971800"/>
            <a:ext cx="3246120" cy="713232"/>
          </a:xfrm>
          <a:prstGeom prst="rect">
            <a:avLst/>
          </a:prstGeom>
          <a:solidFill>
            <a:srgbClr val="FFFFFF"/>
          </a:solidFill>
          <a:ln/>
        </p:spPr>
        <p:txBody>
          <a:bodyPr/>
          <a:lstStyle/>
          <a:p>
            <a:endParaRPr lang="en-US"/>
          </a:p>
        </p:txBody>
      </p:sp>
      <p:sp>
        <p:nvSpPr>
          <p:cNvPr id="14" name="Shape 11"/>
          <p:cNvSpPr/>
          <p:nvPr/>
        </p:nvSpPr>
        <p:spPr>
          <a:xfrm>
            <a:off x="5669280" y="2971800"/>
            <a:ext cx="54864" cy="713232"/>
          </a:xfrm>
          <a:prstGeom prst="rect">
            <a:avLst/>
          </a:prstGeom>
          <a:solidFill>
            <a:srgbClr val="D0291A"/>
          </a:solidFill>
          <a:ln/>
        </p:spPr>
        <p:txBody>
          <a:bodyPr/>
          <a:lstStyle/>
          <a:p>
            <a:endParaRPr lang="en-US"/>
          </a:p>
        </p:txBody>
      </p:sp>
      <p:sp>
        <p:nvSpPr>
          <p:cNvPr id="15" name="Text 12"/>
          <p:cNvSpPr/>
          <p:nvPr/>
        </p:nvSpPr>
        <p:spPr>
          <a:xfrm>
            <a:off x="5806440" y="3017520"/>
            <a:ext cx="3017520" cy="237744"/>
          </a:xfrm>
          <a:prstGeom prst="rect">
            <a:avLst/>
          </a:prstGeom>
          <a:noFill/>
          <a:ln/>
        </p:spPr>
        <p:txBody>
          <a:bodyPr wrap="square"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But nobody's hiring</a:t>
            </a:r>
            <a:endParaRPr lang="en-US" sz="1200" dirty="0"/>
          </a:p>
        </p:txBody>
      </p:sp>
      <p:sp>
        <p:nvSpPr>
          <p:cNvPr id="16" name="Text 13"/>
          <p:cNvSpPr/>
          <p:nvPr/>
        </p:nvSpPr>
        <p:spPr>
          <a:xfrm>
            <a:off x="5806440" y="3273552"/>
            <a:ext cx="3017520" cy="365760"/>
          </a:xfrm>
          <a:prstGeom prst="rect">
            <a:avLst/>
          </a:prstGeom>
          <a:noFill/>
          <a:ln/>
        </p:spPr>
        <p:txBody>
          <a:bodyPr wrap="square" rtlCol="0" anchor="ctr"/>
          <a:lstStyle/>
          <a:p>
            <a:pPr marL="0" indent="0">
              <a:buNone/>
            </a:pPr>
            <a:r>
              <a:rPr lang="en-US" sz="1000" dirty="0">
                <a:solidFill>
                  <a:srgbClr val="36454F"/>
                </a:solidFill>
                <a:latin typeface="Calibri" pitchFamily="34" charset="0"/>
                <a:ea typeface="Calibri" pitchFamily="34" charset="-122"/>
                <a:cs typeface="Calibri" pitchFamily="34" charset="-120"/>
              </a:rPr>
              <a:t>New hires rate at lowest level since 2015, outside of COVID</a:t>
            </a:r>
            <a:endParaRPr lang="en-US" sz="1000" dirty="0"/>
          </a:p>
        </p:txBody>
      </p:sp>
      <p:sp>
        <p:nvSpPr>
          <p:cNvPr id="17" name="Shape 14"/>
          <p:cNvSpPr/>
          <p:nvPr/>
        </p:nvSpPr>
        <p:spPr>
          <a:xfrm>
            <a:off x="5669280" y="3794760"/>
            <a:ext cx="3246120" cy="713232"/>
          </a:xfrm>
          <a:prstGeom prst="rect">
            <a:avLst/>
          </a:prstGeom>
          <a:solidFill>
            <a:srgbClr val="F0F4FA"/>
          </a:solidFill>
          <a:ln/>
        </p:spPr>
        <p:txBody>
          <a:bodyPr/>
          <a:lstStyle/>
          <a:p>
            <a:endParaRPr lang="en-US"/>
          </a:p>
        </p:txBody>
      </p:sp>
      <p:sp>
        <p:nvSpPr>
          <p:cNvPr id="18" name="Shape 15"/>
          <p:cNvSpPr/>
          <p:nvPr/>
        </p:nvSpPr>
        <p:spPr>
          <a:xfrm>
            <a:off x="5669280" y="3794760"/>
            <a:ext cx="54864" cy="713232"/>
          </a:xfrm>
          <a:prstGeom prst="rect">
            <a:avLst/>
          </a:prstGeom>
          <a:solidFill>
            <a:srgbClr val="D0291A"/>
          </a:solidFill>
          <a:ln/>
        </p:spPr>
        <p:txBody>
          <a:bodyPr/>
          <a:lstStyle/>
          <a:p>
            <a:endParaRPr lang="en-US"/>
          </a:p>
        </p:txBody>
      </p:sp>
      <p:sp>
        <p:nvSpPr>
          <p:cNvPr id="19" name="Text 16"/>
          <p:cNvSpPr/>
          <p:nvPr/>
        </p:nvSpPr>
        <p:spPr>
          <a:xfrm>
            <a:off x="5806440" y="3840480"/>
            <a:ext cx="3017520" cy="237744"/>
          </a:xfrm>
          <a:prstGeom prst="rect">
            <a:avLst/>
          </a:prstGeom>
          <a:noFill/>
          <a:ln/>
        </p:spPr>
        <p:txBody>
          <a:bodyPr wrap="square"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Job seekers are stuck</a:t>
            </a:r>
            <a:endParaRPr lang="en-US" sz="1200" dirty="0"/>
          </a:p>
        </p:txBody>
      </p:sp>
      <p:sp>
        <p:nvSpPr>
          <p:cNvPr id="20" name="Text 17"/>
          <p:cNvSpPr/>
          <p:nvPr/>
        </p:nvSpPr>
        <p:spPr>
          <a:xfrm>
            <a:off x="5806440" y="4096512"/>
            <a:ext cx="3017520" cy="365760"/>
          </a:xfrm>
          <a:prstGeom prst="rect">
            <a:avLst/>
          </a:prstGeom>
          <a:noFill/>
          <a:ln/>
        </p:spPr>
        <p:txBody>
          <a:bodyPr wrap="square" rtlCol="0" anchor="ctr"/>
          <a:lstStyle/>
          <a:p>
            <a:pPr marL="0" indent="0">
              <a:buNone/>
            </a:pPr>
            <a:r>
              <a:rPr lang="en-US" sz="1000" dirty="0">
                <a:solidFill>
                  <a:srgbClr val="36454F"/>
                </a:solidFill>
                <a:latin typeface="Calibri" pitchFamily="34" charset="0"/>
                <a:ea typeface="Calibri" pitchFamily="34" charset="-122"/>
                <a:cs typeface="Calibri" pitchFamily="34" charset="-120"/>
              </a:rPr>
              <a:t>Long search durations, lower offer rates — the market is frozen</a:t>
            </a:r>
            <a:endParaRPr lang="en-US" sz="1000" dirty="0"/>
          </a:p>
        </p:txBody>
      </p:sp>
      <p:sp>
        <p:nvSpPr>
          <p:cNvPr id="21" name="Text 18"/>
          <p:cNvSpPr/>
          <p:nvPr/>
        </p:nvSpPr>
        <p:spPr>
          <a:xfrm>
            <a:off x="365760" y="4800600"/>
            <a:ext cx="7315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Source: BLS JOLTS, Indeed Hiring Lab</a:t>
            </a:r>
            <a:endParaRPr lang="en-US" sz="900" dirty="0"/>
          </a:p>
        </p:txBody>
      </p:sp>
      <p:sp>
        <p:nvSpPr>
          <p:cNvPr id="22" name="Text 19"/>
          <p:cNvSpPr/>
          <p:nvPr/>
        </p:nvSpPr>
        <p:spPr>
          <a:xfrm>
            <a:off x="8595360" y="4800600"/>
            <a:ext cx="457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3"/>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rgbClr val="1C1C1E"/>
                </a:solidFill>
                <a:latin typeface="Calibri" pitchFamily="34" charset="0"/>
                <a:ea typeface="Calibri" pitchFamily="34" charset="-122"/>
                <a:cs typeface="Calibri" pitchFamily="34" charset="-120"/>
              </a:rPr>
              <a:t>The vibes-versus-data gap is historically wide</a:t>
            </a:r>
            <a:endParaRPr lang="en-US" sz="3200" dirty="0"/>
          </a:p>
        </p:txBody>
      </p:sp>
      <p:sp>
        <p:nvSpPr>
          <p:cNvPr id="3" name="Text 1"/>
          <p:cNvSpPr/>
          <p:nvPr/>
        </p:nvSpPr>
        <p:spPr>
          <a:xfrm>
            <a:off x="457200" y="914400"/>
            <a:ext cx="8229600" cy="411480"/>
          </a:xfrm>
          <a:prstGeom prst="rect">
            <a:avLst/>
          </a:prstGeom>
          <a:noFill/>
          <a:ln/>
        </p:spPr>
        <p:txBody>
          <a:bodyPr wrap="square" lIns="0" tIns="0" rIns="0" bIns="0" rtlCol="0" anchor="ctr"/>
          <a:lstStyle/>
          <a:p>
            <a:pPr marL="0" indent="0">
              <a:buNone/>
            </a:pPr>
            <a:r>
              <a:rPr lang="en-US" sz="1500" dirty="0">
                <a:solidFill>
                  <a:srgbClr val="64748B"/>
                </a:solidFill>
                <a:latin typeface="Calibri" pitchFamily="34" charset="0"/>
                <a:ea typeface="Calibri" pitchFamily="34" charset="-122"/>
                <a:cs typeface="Calibri" pitchFamily="34" charset="-120"/>
              </a:rPr>
              <a:t>Consumer sentiment diverges from headline employment figures</a:t>
            </a:r>
            <a:endParaRPr lang="en-US" sz="1500" dirty="0"/>
          </a:p>
        </p:txBody>
      </p:sp>
      <p:graphicFrame>
        <p:nvGraphicFramePr>
          <p:cNvPr id="4" name="Chart 0"/>
          <p:cNvGraphicFramePr/>
          <p:nvPr/>
        </p:nvGraphicFramePr>
        <p:xfrm>
          <a:off x="365760" y="1325880"/>
          <a:ext cx="530352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943600" y="1325880"/>
            <a:ext cx="2971800" cy="987552"/>
          </a:xfrm>
          <a:prstGeom prst="rect">
            <a:avLst/>
          </a:prstGeom>
          <a:solidFill>
            <a:srgbClr val="FFFFFF"/>
          </a:solidFill>
          <a:ln/>
          <a:effectLst>
            <a:outerShdw blurRad="76200" dist="12700" dir="8100000" algn="bl" rotWithShape="0">
              <a:srgbClr val="000000">
                <a:alpha val="9000"/>
              </a:srgbClr>
            </a:outerShdw>
          </a:effectLst>
        </p:spPr>
        <p:txBody>
          <a:bodyPr/>
          <a:lstStyle/>
          <a:p>
            <a:endParaRPr lang="en-US"/>
          </a:p>
        </p:txBody>
      </p:sp>
      <p:sp>
        <p:nvSpPr>
          <p:cNvPr id="6" name="Text 3"/>
          <p:cNvSpPr/>
          <p:nvPr/>
        </p:nvSpPr>
        <p:spPr>
          <a:xfrm>
            <a:off x="6035040" y="1417320"/>
            <a:ext cx="1097280" cy="475488"/>
          </a:xfrm>
          <a:prstGeom prst="rect">
            <a:avLst/>
          </a:prstGeom>
          <a:noFill/>
          <a:ln/>
        </p:spPr>
        <p:txBody>
          <a:bodyPr wrap="square" rtlCol="0" anchor="ctr"/>
          <a:lstStyle/>
          <a:p>
            <a:pPr marL="0" indent="0">
              <a:buNone/>
            </a:pPr>
            <a:r>
              <a:rPr lang="en-US" sz="2600" b="1" dirty="0">
                <a:solidFill>
                  <a:srgbClr val="D0291A"/>
                </a:solidFill>
                <a:latin typeface="Calibri" pitchFamily="34" charset="0"/>
                <a:ea typeface="Calibri" pitchFamily="34" charset="-122"/>
                <a:cs typeface="Calibri" pitchFamily="34" charset="-120"/>
              </a:rPr>
              <a:t>47.6</a:t>
            </a:r>
            <a:endParaRPr lang="en-US" sz="2600" dirty="0"/>
          </a:p>
        </p:txBody>
      </p:sp>
      <p:sp>
        <p:nvSpPr>
          <p:cNvPr id="7" name="Text 4"/>
          <p:cNvSpPr/>
          <p:nvPr/>
        </p:nvSpPr>
        <p:spPr>
          <a:xfrm>
            <a:off x="7150608" y="1417320"/>
            <a:ext cx="1691640" cy="475488"/>
          </a:xfrm>
          <a:prstGeom prst="rect">
            <a:avLst/>
          </a:prstGeom>
          <a:noFill/>
          <a:ln/>
        </p:spPr>
        <p:txBody>
          <a:bodyPr wrap="square" rtlCol="0" anchor="ctr"/>
          <a:lstStyle/>
          <a:p>
            <a:pPr marL="0" indent="0">
              <a:buNone/>
            </a:pPr>
            <a:r>
              <a:rPr lang="en-US" sz="1050" b="1" dirty="0">
                <a:solidFill>
                  <a:srgbClr val="1C2B4A"/>
                </a:solidFill>
                <a:latin typeface="Calibri" pitchFamily="34" charset="0"/>
                <a:ea typeface="Calibri" pitchFamily="34" charset="-122"/>
                <a:cs typeface="Calibri" pitchFamily="34" charset="-120"/>
              </a:rPr>
              <a:t>U of Michigan Sentiment, Apr 2026</a:t>
            </a:r>
            <a:endParaRPr lang="en-US" sz="1050" dirty="0"/>
          </a:p>
        </p:txBody>
      </p:sp>
      <p:sp>
        <p:nvSpPr>
          <p:cNvPr id="8" name="Text 5"/>
          <p:cNvSpPr/>
          <p:nvPr/>
        </p:nvSpPr>
        <p:spPr>
          <a:xfrm>
            <a:off x="6035040" y="1947672"/>
            <a:ext cx="2743200" cy="32004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Near all-time low. Below COVID lows for consumer outlook.</a:t>
            </a:r>
            <a:endParaRPr lang="en-US" sz="900" dirty="0"/>
          </a:p>
        </p:txBody>
      </p:sp>
      <p:sp>
        <p:nvSpPr>
          <p:cNvPr id="9" name="Shape 6"/>
          <p:cNvSpPr/>
          <p:nvPr/>
        </p:nvSpPr>
        <p:spPr>
          <a:xfrm>
            <a:off x="5943600" y="2423160"/>
            <a:ext cx="2971800" cy="987552"/>
          </a:xfrm>
          <a:prstGeom prst="rect">
            <a:avLst/>
          </a:prstGeom>
          <a:solidFill>
            <a:srgbClr val="FFFFFF"/>
          </a:solidFill>
          <a:ln/>
          <a:effectLst>
            <a:outerShdw blurRad="76200" dist="12700" dir="8100000" algn="bl" rotWithShape="0">
              <a:srgbClr val="000000">
                <a:alpha val="9000"/>
              </a:srgbClr>
            </a:outerShdw>
          </a:effectLst>
        </p:spPr>
        <p:txBody>
          <a:bodyPr/>
          <a:lstStyle/>
          <a:p>
            <a:endParaRPr lang="en-US"/>
          </a:p>
        </p:txBody>
      </p:sp>
      <p:sp>
        <p:nvSpPr>
          <p:cNvPr id="10" name="Text 7"/>
          <p:cNvSpPr/>
          <p:nvPr/>
        </p:nvSpPr>
        <p:spPr>
          <a:xfrm>
            <a:off x="6035040" y="2514600"/>
            <a:ext cx="1097280" cy="475488"/>
          </a:xfrm>
          <a:prstGeom prst="rect">
            <a:avLst/>
          </a:prstGeom>
          <a:noFill/>
          <a:ln/>
        </p:spPr>
        <p:txBody>
          <a:bodyPr wrap="square" rtlCol="0" anchor="ctr"/>
          <a:lstStyle/>
          <a:p>
            <a:pPr marL="0" indent="0">
              <a:buNone/>
            </a:pPr>
            <a:r>
              <a:rPr lang="en-US" sz="2600" b="1" dirty="0">
                <a:solidFill>
                  <a:srgbClr val="1C2B4A"/>
                </a:solidFill>
                <a:latin typeface="Calibri" pitchFamily="34" charset="0"/>
                <a:ea typeface="Calibri" pitchFamily="34" charset="-122"/>
                <a:cs typeface="Calibri" pitchFamily="34" charset="-120"/>
              </a:rPr>
              <a:t>21.5%</a:t>
            </a:r>
            <a:endParaRPr lang="en-US" sz="2600" dirty="0"/>
          </a:p>
        </p:txBody>
      </p:sp>
      <p:sp>
        <p:nvSpPr>
          <p:cNvPr id="11" name="Text 8"/>
          <p:cNvSpPr/>
          <p:nvPr/>
        </p:nvSpPr>
        <p:spPr>
          <a:xfrm>
            <a:off x="7150608" y="2514600"/>
            <a:ext cx="1691640" cy="475488"/>
          </a:xfrm>
          <a:prstGeom prst="rect">
            <a:avLst/>
          </a:prstGeom>
          <a:noFill/>
          <a:ln/>
        </p:spPr>
        <p:txBody>
          <a:bodyPr wrap="square" rtlCol="0" anchor="ctr"/>
          <a:lstStyle/>
          <a:p>
            <a:pPr marL="0" indent="0">
              <a:buNone/>
            </a:pPr>
            <a:r>
              <a:rPr lang="en-US" sz="1050" b="1" dirty="0">
                <a:solidFill>
                  <a:srgbClr val="1C2B4A"/>
                </a:solidFill>
                <a:latin typeface="Calibri" pitchFamily="34" charset="0"/>
                <a:ea typeface="Calibri" pitchFamily="34" charset="-122"/>
                <a:cs typeface="Calibri" pitchFamily="34" charset="-120"/>
              </a:rPr>
              <a:t>Say jobs are "hard to get"</a:t>
            </a:r>
            <a:endParaRPr lang="en-US" sz="1050" dirty="0"/>
          </a:p>
        </p:txBody>
      </p:sp>
      <p:sp>
        <p:nvSpPr>
          <p:cNvPr id="12" name="Text 9"/>
          <p:cNvSpPr/>
          <p:nvPr/>
        </p:nvSpPr>
        <p:spPr>
          <a:xfrm>
            <a:off x="6035040" y="3044952"/>
            <a:ext cx="2743200" cy="32004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+5ppt rise in 12 months. Conference Board, March 2026.</a:t>
            </a:r>
            <a:endParaRPr lang="en-US" sz="900" dirty="0"/>
          </a:p>
        </p:txBody>
      </p:sp>
      <p:sp>
        <p:nvSpPr>
          <p:cNvPr id="13" name="Shape 10"/>
          <p:cNvSpPr/>
          <p:nvPr/>
        </p:nvSpPr>
        <p:spPr>
          <a:xfrm>
            <a:off x="5943600" y="3520440"/>
            <a:ext cx="2971800" cy="987552"/>
          </a:xfrm>
          <a:prstGeom prst="rect">
            <a:avLst/>
          </a:prstGeom>
          <a:solidFill>
            <a:srgbClr val="FFFFFF"/>
          </a:solidFill>
          <a:ln/>
          <a:effectLst>
            <a:outerShdw blurRad="76200" dist="12700" dir="8100000" algn="bl" rotWithShape="0">
              <a:srgbClr val="000000">
                <a:alpha val="9000"/>
              </a:srgbClr>
            </a:outerShdw>
          </a:effectLst>
        </p:spPr>
        <p:txBody>
          <a:bodyPr/>
          <a:lstStyle/>
          <a:p>
            <a:endParaRPr lang="en-US"/>
          </a:p>
        </p:txBody>
      </p:sp>
      <p:sp>
        <p:nvSpPr>
          <p:cNvPr id="14" name="Text 11"/>
          <p:cNvSpPr/>
          <p:nvPr/>
        </p:nvSpPr>
        <p:spPr>
          <a:xfrm>
            <a:off x="6035040" y="3611880"/>
            <a:ext cx="1097280" cy="475488"/>
          </a:xfrm>
          <a:prstGeom prst="rect">
            <a:avLst/>
          </a:prstGeom>
          <a:noFill/>
          <a:ln/>
        </p:spPr>
        <p:txBody>
          <a:bodyPr wrap="square" rtlCol="0" anchor="ctr"/>
          <a:lstStyle/>
          <a:p>
            <a:pPr marL="0" indent="0">
              <a:buNone/>
            </a:pPr>
            <a:r>
              <a:rPr lang="en-US" sz="2600" b="1" dirty="0">
                <a:solidFill>
                  <a:srgbClr val="1C2B4A"/>
                </a:solidFill>
                <a:latin typeface="Calibri" pitchFamily="34" charset="0"/>
                <a:ea typeface="Calibri" pitchFamily="34" charset="-122"/>
                <a:cs typeface="Calibri" pitchFamily="34" charset="-120"/>
              </a:rPr>
              <a:t>43.5%</a:t>
            </a:r>
            <a:endParaRPr lang="en-US" sz="2600" dirty="0"/>
          </a:p>
        </p:txBody>
      </p:sp>
      <p:sp>
        <p:nvSpPr>
          <p:cNvPr id="15" name="Text 12"/>
          <p:cNvSpPr/>
          <p:nvPr/>
        </p:nvSpPr>
        <p:spPr>
          <a:xfrm>
            <a:off x="7150608" y="3611880"/>
            <a:ext cx="1691640" cy="475488"/>
          </a:xfrm>
          <a:prstGeom prst="rect">
            <a:avLst/>
          </a:prstGeom>
          <a:noFill/>
          <a:ln/>
        </p:spPr>
        <p:txBody>
          <a:bodyPr wrap="square" rtlCol="0" anchor="ctr"/>
          <a:lstStyle/>
          <a:p>
            <a:pPr marL="0" indent="0">
              <a:buNone/>
            </a:pPr>
            <a:r>
              <a:rPr lang="en-US" sz="1050" b="1" dirty="0">
                <a:solidFill>
                  <a:srgbClr val="1C2B4A"/>
                </a:solidFill>
                <a:latin typeface="Calibri" pitchFamily="34" charset="0"/>
                <a:ea typeface="Calibri" pitchFamily="34" charset="-122"/>
                <a:cs typeface="Calibri" pitchFamily="34" charset="-120"/>
              </a:rPr>
              <a:t>Expect higher unemployment</a:t>
            </a:r>
            <a:endParaRPr lang="en-US" sz="1050" dirty="0"/>
          </a:p>
        </p:txBody>
      </p:sp>
      <p:sp>
        <p:nvSpPr>
          <p:cNvPr id="16" name="Text 13"/>
          <p:cNvSpPr/>
          <p:nvPr/>
        </p:nvSpPr>
        <p:spPr>
          <a:xfrm>
            <a:off x="6035040" y="4142232"/>
            <a:ext cx="2743200" cy="32004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New York Fed survey, March 2026. Highest since Apr 2025.</a:t>
            </a:r>
            <a:endParaRPr lang="en-US" sz="900" dirty="0"/>
          </a:p>
        </p:txBody>
      </p:sp>
      <p:sp>
        <p:nvSpPr>
          <p:cNvPr id="17" name="Text 14"/>
          <p:cNvSpPr/>
          <p:nvPr/>
        </p:nvSpPr>
        <p:spPr>
          <a:xfrm>
            <a:off x="365760" y="4800600"/>
            <a:ext cx="7315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Source: Conference Board, University of Michigan, NY Fed</a:t>
            </a:r>
            <a:endParaRPr lang="en-US" sz="900" dirty="0"/>
          </a:p>
        </p:txBody>
      </p:sp>
      <p:sp>
        <p:nvSpPr>
          <p:cNvPr id="18" name="Text 15"/>
          <p:cNvSpPr/>
          <p:nvPr/>
        </p:nvSpPr>
        <p:spPr>
          <a:xfrm>
            <a:off x="8595360" y="4800600"/>
            <a:ext cx="457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3"/>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rgbClr val="1C1C1E"/>
                </a:solidFill>
                <a:latin typeface="Calibri" pitchFamily="34" charset="0"/>
                <a:ea typeface="Calibri" pitchFamily="34" charset="-122"/>
                <a:cs typeface="Calibri" pitchFamily="34" charset="-120"/>
              </a:rPr>
              <a:t>2025 job cuts: highest since the pandemic</a:t>
            </a:r>
            <a:endParaRPr lang="en-US" sz="3200" dirty="0"/>
          </a:p>
        </p:txBody>
      </p:sp>
      <p:sp>
        <p:nvSpPr>
          <p:cNvPr id="3" name="Text 1"/>
          <p:cNvSpPr/>
          <p:nvPr/>
        </p:nvSpPr>
        <p:spPr>
          <a:xfrm>
            <a:off x="457200" y="914400"/>
            <a:ext cx="8229600" cy="411480"/>
          </a:xfrm>
          <a:prstGeom prst="rect">
            <a:avLst/>
          </a:prstGeom>
          <a:noFill/>
          <a:ln/>
        </p:spPr>
        <p:txBody>
          <a:bodyPr wrap="square" lIns="0" tIns="0" rIns="0" bIns="0" rtlCol="0" anchor="ctr"/>
          <a:lstStyle/>
          <a:p>
            <a:pPr marL="0" indent="0">
              <a:buNone/>
            </a:pPr>
            <a:r>
              <a:rPr lang="en-US" sz="1500" dirty="0">
                <a:solidFill>
                  <a:srgbClr val="64748B"/>
                </a:solidFill>
                <a:latin typeface="Calibri" pitchFamily="34" charset="0"/>
                <a:ea typeface="Calibri" pitchFamily="34" charset="-122"/>
                <a:cs typeface="Calibri" pitchFamily="34" charset="-120"/>
              </a:rPr>
              <a:t>1.2 million announced layoffs, up 58% from 2024</a:t>
            </a:r>
            <a:endParaRPr lang="en-US" sz="1500" dirty="0"/>
          </a:p>
        </p:txBody>
      </p:sp>
      <p:graphicFrame>
        <p:nvGraphicFramePr>
          <p:cNvPr id="4" name="Chart 0"/>
          <p:cNvGraphicFramePr/>
          <p:nvPr/>
        </p:nvGraphicFramePr>
        <p:xfrm>
          <a:off x="365760" y="1325880"/>
          <a:ext cx="539496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6035040" y="1371600"/>
            <a:ext cx="2926080" cy="320040"/>
          </a:xfrm>
          <a:prstGeom prst="rect">
            <a:avLst/>
          </a:prstGeom>
          <a:noFill/>
          <a:ln/>
        </p:spPr>
        <p:txBody>
          <a:bodyPr wrap="square"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2025 Cuts by Sector</a:t>
            </a:r>
            <a:endParaRPr lang="en-US" sz="1200" dirty="0"/>
          </a:p>
        </p:txBody>
      </p:sp>
      <p:sp>
        <p:nvSpPr>
          <p:cNvPr id="6" name="Text 3"/>
          <p:cNvSpPr/>
          <p:nvPr/>
        </p:nvSpPr>
        <p:spPr>
          <a:xfrm>
            <a:off x="6035040" y="1783080"/>
            <a:ext cx="1554480" cy="256032"/>
          </a:xfrm>
          <a:prstGeom prst="rect">
            <a:avLst/>
          </a:prstGeom>
          <a:noFill/>
          <a:ln/>
        </p:spPr>
        <p:txBody>
          <a:bodyPr wrap="square" rtlCol="0" anchor="ctr"/>
          <a:lstStyle/>
          <a:p>
            <a:pPr marL="0" indent="0">
              <a:buNone/>
            </a:pPr>
            <a:r>
              <a:rPr lang="en-US" sz="1000" dirty="0">
                <a:solidFill>
                  <a:srgbClr val="36454F"/>
                </a:solidFill>
                <a:latin typeface="Calibri" pitchFamily="34" charset="0"/>
                <a:ea typeface="Calibri" pitchFamily="34" charset="-122"/>
                <a:cs typeface="Calibri" pitchFamily="34" charset="-120"/>
              </a:rPr>
              <a:t>Government (DOGE)</a:t>
            </a:r>
            <a:endParaRPr lang="en-US" sz="1000" dirty="0"/>
          </a:p>
        </p:txBody>
      </p:sp>
      <p:sp>
        <p:nvSpPr>
          <p:cNvPr id="7" name="Text 4"/>
          <p:cNvSpPr/>
          <p:nvPr/>
        </p:nvSpPr>
        <p:spPr>
          <a:xfrm>
            <a:off x="7635240" y="1783080"/>
            <a:ext cx="1234440" cy="256032"/>
          </a:xfrm>
          <a:prstGeom prst="rect">
            <a:avLst/>
          </a:prstGeom>
          <a:noFill/>
          <a:ln/>
        </p:spPr>
        <p:txBody>
          <a:bodyPr wrap="square" rtlCol="0" anchor="ctr"/>
          <a:lstStyle/>
          <a:p>
            <a:pPr marL="0" indent="0" algn="r">
              <a:buNone/>
            </a:pPr>
            <a:r>
              <a:rPr lang="en-US" sz="1000" b="1" dirty="0">
                <a:solidFill>
                  <a:srgbClr val="D0291A"/>
                </a:solidFill>
                <a:latin typeface="Calibri" pitchFamily="34" charset="0"/>
                <a:ea typeface="Calibri" pitchFamily="34" charset="-122"/>
                <a:cs typeface="Calibri" pitchFamily="34" charset="-120"/>
              </a:rPr>
              <a:t>308K  (26%)</a:t>
            </a:r>
            <a:endParaRPr lang="en-US" sz="1000" dirty="0"/>
          </a:p>
        </p:txBody>
      </p:sp>
      <p:sp>
        <p:nvSpPr>
          <p:cNvPr id="8" name="Shape 5"/>
          <p:cNvSpPr/>
          <p:nvPr/>
        </p:nvSpPr>
        <p:spPr>
          <a:xfrm>
            <a:off x="6035040" y="2057400"/>
            <a:ext cx="2834640" cy="91440"/>
          </a:xfrm>
          <a:prstGeom prst="rect">
            <a:avLst/>
          </a:prstGeom>
          <a:solidFill>
            <a:srgbClr val="E2E8F0"/>
          </a:solidFill>
          <a:ln/>
        </p:spPr>
        <p:txBody>
          <a:bodyPr/>
          <a:lstStyle/>
          <a:p>
            <a:endParaRPr lang="en-US"/>
          </a:p>
        </p:txBody>
      </p:sp>
      <p:sp>
        <p:nvSpPr>
          <p:cNvPr id="9" name="Shape 6"/>
          <p:cNvSpPr/>
          <p:nvPr/>
        </p:nvSpPr>
        <p:spPr>
          <a:xfrm>
            <a:off x="6035040" y="2057400"/>
            <a:ext cx="2834640" cy="91440"/>
          </a:xfrm>
          <a:prstGeom prst="rect">
            <a:avLst/>
          </a:prstGeom>
          <a:solidFill>
            <a:srgbClr val="D0291A"/>
          </a:solidFill>
          <a:ln/>
        </p:spPr>
        <p:txBody>
          <a:bodyPr/>
          <a:lstStyle/>
          <a:p>
            <a:endParaRPr lang="en-US"/>
          </a:p>
        </p:txBody>
      </p:sp>
      <p:sp>
        <p:nvSpPr>
          <p:cNvPr id="10" name="Text 7"/>
          <p:cNvSpPr/>
          <p:nvPr/>
        </p:nvSpPr>
        <p:spPr>
          <a:xfrm>
            <a:off x="6035040" y="2258568"/>
            <a:ext cx="1554480" cy="256032"/>
          </a:xfrm>
          <a:prstGeom prst="rect">
            <a:avLst/>
          </a:prstGeom>
          <a:noFill/>
          <a:ln/>
        </p:spPr>
        <p:txBody>
          <a:bodyPr wrap="square" rtlCol="0" anchor="ctr"/>
          <a:lstStyle/>
          <a:p>
            <a:pPr marL="0" indent="0">
              <a:buNone/>
            </a:pPr>
            <a:r>
              <a:rPr lang="en-US" sz="1000" dirty="0">
                <a:solidFill>
                  <a:srgbClr val="36454F"/>
                </a:solidFill>
                <a:latin typeface="Calibri" pitchFamily="34" charset="0"/>
                <a:ea typeface="Calibri" pitchFamily="34" charset="-122"/>
                <a:cs typeface="Calibri" pitchFamily="34" charset="-120"/>
              </a:rPr>
              <a:t>Technology</a:t>
            </a:r>
            <a:endParaRPr lang="en-US" sz="1000" dirty="0"/>
          </a:p>
        </p:txBody>
      </p:sp>
      <p:sp>
        <p:nvSpPr>
          <p:cNvPr id="11" name="Text 8"/>
          <p:cNvSpPr/>
          <p:nvPr/>
        </p:nvSpPr>
        <p:spPr>
          <a:xfrm>
            <a:off x="7635240" y="2258568"/>
            <a:ext cx="1234440" cy="256032"/>
          </a:xfrm>
          <a:prstGeom prst="rect">
            <a:avLst/>
          </a:prstGeom>
          <a:noFill/>
          <a:ln/>
        </p:spPr>
        <p:txBody>
          <a:bodyPr wrap="square" rtlCol="0" anchor="ctr"/>
          <a:lstStyle/>
          <a:p>
            <a:pPr marL="0" indent="0" algn="r">
              <a:buNone/>
            </a:pPr>
            <a:r>
              <a:rPr lang="en-US" sz="1000" b="1" dirty="0">
                <a:solidFill>
                  <a:srgbClr val="1C2B4A"/>
                </a:solidFill>
                <a:latin typeface="Calibri" pitchFamily="34" charset="0"/>
                <a:ea typeface="Calibri" pitchFamily="34" charset="-122"/>
                <a:cs typeface="Calibri" pitchFamily="34" charset="-120"/>
              </a:rPr>
              <a:t>155K  (13%)</a:t>
            </a:r>
            <a:endParaRPr lang="en-US" sz="1000" dirty="0"/>
          </a:p>
        </p:txBody>
      </p:sp>
      <p:sp>
        <p:nvSpPr>
          <p:cNvPr id="12" name="Shape 9"/>
          <p:cNvSpPr/>
          <p:nvPr/>
        </p:nvSpPr>
        <p:spPr>
          <a:xfrm>
            <a:off x="6035040" y="2532888"/>
            <a:ext cx="2834640" cy="91440"/>
          </a:xfrm>
          <a:prstGeom prst="rect">
            <a:avLst/>
          </a:prstGeom>
          <a:solidFill>
            <a:srgbClr val="E2E8F0"/>
          </a:solidFill>
          <a:ln/>
        </p:spPr>
        <p:txBody>
          <a:bodyPr/>
          <a:lstStyle/>
          <a:p>
            <a:endParaRPr lang="en-US"/>
          </a:p>
        </p:txBody>
      </p:sp>
      <p:sp>
        <p:nvSpPr>
          <p:cNvPr id="13" name="Shape 10"/>
          <p:cNvSpPr/>
          <p:nvPr/>
        </p:nvSpPr>
        <p:spPr>
          <a:xfrm>
            <a:off x="6035040" y="2532888"/>
            <a:ext cx="1417320" cy="91440"/>
          </a:xfrm>
          <a:prstGeom prst="rect">
            <a:avLst/>
          </a:prstGeom>
          <a:solidFill>
            <a:srgbClr val="1C2B4A"/>
          </a:solidFill>
          <a:ln/>
        </p:spPr>
        <p:txBody>
          <a:bodyPr/>
          <a:lstStyle/>
          <a:p>
            <a:endParaRPr lang="en-US"/>
          </a:p>
        </p:txBody>
      </p:sp>
      <p:sp>
        <p:nvSpPr>
          <p:cNvPr id="14" name="Text 11"/>
          <p:cNvSpPr/>
          <p:nvPr/>
        </p:nvSpPr>
        <p:spPr>
          <a:xfrm>
            <a:off x="6035040" y="2734056"/>
            <a:ext cx="1554480" cy="256032"/>
          </a:xfrm>
          <a:prstGeom prst="rect">
            <a:avLst/>
          </a:prstGeom>
          <a:noFill/>
          <a:ln/>
        </p:spPr>
        <p:txBody>
          <a:bodyPr wrap="square" rtlCol="0" anchor="ctr"/>
          <a:lstStyle/>
          <a:p>
            <a:pPr marL="0" indent="0">
              <a:buNone/>
            </a:pPr>
            <a:r>
              <a:rPr lang="en-US" sz="1000" dirty="0">
                <a:solidFill>
                  <a:srgbClr val="36454F"/>
                </a:solidFill>
                <a:latin typeface="Calibri" pitchFamily="34" charset="0"/>
                <a:ea typeface="Calibri" pitchFamily="34" charset="-122"/>
                <a:cs typeface="Calibri" pitchFamily="34" charset="-120"/>
              </a:rPr>
              <a:t>Warehousing</a:t>
            </a:r>
            <a:endParaRPr lang="en-US" sz="1000" dirty="0"/>
          </a:p>
        </p:txBody>
      </p:sp>
      <p:sp>
        <p:nvSpPr>
          <p:cNvPr id="15" name="Text 12"/>
          <p:cNvSpPr/>
          <p:nvPr/>
        </p:nvSpPr>
        <p:spPr>
          <a:xfrm>
            <a:off x="7635240" y="2734056"/>
            <a:ext cx="1234440" cy="256032"/>
          </a:xfrm>
          <a:prstGeom prst="rect">
            <a:avLst/>
          </a:prstGeom>
          <a:noFill/>
          <a:ln/>
        </p:spPr>
        <p:txBody>
          <a:bodyPr wrap="square" rtlCol="0" anchor="ctr"/>
          <a:lstStyle/>
          <a:p>
            <a:pPr marL="0" indent="0" algn="r">
              <a:buNone/>
            </a:pPr>
            <a:r>
              <a:rPr lang="en-US" sz="1000" b="1" dirty="0">
                <a:solidFill>
                  <a:srgbClr val="1C2B4A"/>
                </a:solidFill>
                <a:latin typeface="Calibri" pitchFamily="34" charset="0"/>
                <a:ea typeface="Calibri" pitchFamily="34" charset="-122"/>
                <a:cs typeface="Calibri" pitchFamily="34" charset="-120"/>
              </a:rPr>
              <a:t>95K  (8%)</a:t>
            </a:r>
            <a:endParaRPr lang="en-US" sz="1000" dirty="0"/>
          </a:p>
        </p:txBody>
      </p:sp>
      <p:sp>
        <p:nvSpPr>
          <p:cNvPr id="16" name="Shape 13"/>
          <p:cNvSpPr/>
          <p:nvPr/>
        </p:nvSpPr>
        <p:spPr>
          <a:xfrm>
            <a:off x="6035040" y="3008376"/>
            <a:ext cx="2834640" cy="91440"/>
          </a:xfrm>
          <a:prstGeom prst="rect">
            <a:avLst/>
          </a:prstGeom>
          <a:solidFill>
            <a:srgbClr val="E2E8F0"/>
          </a:solidFill>
          <a:ln/>
        </p:spPr>
        <p:txBody>
          <a:bodyPr/>
          <a:lstStyle/>
          <a:p>
            <a:endParaRPr lang="en-US"/>
          </a:p>
        </p:txBody>
      </p:sp>
      <p:sp>
        <p:nvSpPr>
          <p:cNvPr id="17" name="Shape 14"/>
          <p:cNvSpPr/>
          <p:nvPr/>
        </p:nvSpPr>
        <p:spPr>
          <a:xfrm>
            <a:off x="6035040" y="3008376"/>
            <a:ext cx="878738" cy="91440"/>
          </a:xfrm>
          <a:prstGeom prst="rect">
            <a:avLst/>
          </a:prstGeom>
          <a:solidFill>
            <a:srgbClr val="1C2B4A"/>
          </a:solidFill>
          <a:ln/>
        </p:spPr>
        <p:txBody>
          <a:bodyPr/>
          <a:lstStyle/>
          <a:p>
            <a:endParaRPr lang="en-US"/>
          </a:p>
        </p:txBody>
      </p:sp>
      <p:sp>
        <p:nvSpPr>
          <p:cNvPr id="18" name="Text 15"/>
          <p:cNvSpPr/>
          <p:nvPr/>
        </p:nvSpPr>
        <p:spPr>
          <a:xfrm>
            <a:off x="6035040" y="3209544"/>
            <a:ext cx="1554480" cy="256032"/>
          </a:xfrm>
          <a:prstGeom prst="rect">
            <a:avLst/>
          </a:prstGeom>
          <a:noFill/>
          <a:ln/>
        </p:spPr>
        <p:txBody>
          <a:bodyPr wrap="square" rtlCol="0" anchor="ctr"/>
          <a:lstStyle/>
          <a:p>
            <a:pPr marL="0" indent="0">
              <a:buNone/>
            </a:pPr>
            <a:r>
              <a:rPr lang="en-US" sz="1000" dirty="0">
                <a:solidFill>
                  <a:srgbClr val="36454F"/>
                </a:solidFill>
                <a:latin typeface="Calibri" pitchFamily="34" charset="0"/>
                <a:ea typeface="Calibri" pitchFamily="34" charset="-122"/>
                <a:cs typeface="Calibri" pitchFamily="34" charset="-120"/>
              </a:rPr>
              <a:t>Retail</a:t>
            </a:r>
            <a:endParaRPr lang="en-US" sz="1000" dirty="0"/>
          </a:p>
        </p:txBody>
      </p:sp>
      <p:sp>
        <p:nvSpPr>
          <p:cNvPr id="19" name="Text 16"/>
          <p:cNvSpPr/>
          <p:nvPr/>
        </p:nvSpPr>
        <p:spPr>
          <a:xfrm>
            <a:off x="7635240" y="3209544"/>
            <a:ext cx="1234440" cy="256032"/>
          </a:xfrm>
          <a:prstGeom prst="rect">
            <a:avLst/>
          </a:prstGeom>
          <a:noFill/>
          <a:ln/>
        </p:spPr>
        <p:txBody>
          <a:bodyPr wrap="square" rtlCol="0" anchor="ctr"/>
          <a:lstStyle/>
          <a:p>
            <a:pPr marL="0" indent="0" algn="r">
              <a:buNone/>
            </a:pPr>
            <a:r>
              <a:rPr lang="en-US" sz="1000" b="1" dirty="0">
                <a:solidFill>
                  <a:srgbClr val="1C2B4A"/>
                </a:solidFill>
                <a:latin typeface="Calibri" pitchFamily="34" charset="0"/>
                <a:ea typeface="Calibri" pitchFamily="34" charset="-122"/>
                <a:cs typeface="Calibri" pitchFamily="34" charset="-120"/>
              </a:rPr>
              <a:t>93K  (8%)</a:t>
            </a:r>
            <a:endParaRPr lang="en-US" sz="1000" dirty="0"/>
          </a:p>
        </p:txBody>
      </p:sp>
      <p:sp>
        <p:nvSpPr>
          <p:cNvPr id="20" name="Shape 17"/>
          <p:cNvSpPr/>
          <p:nvPr/>
        </p:nvSpPr>
        <p:spPr>
          <a:xfrm>
            <a:off x="6035040" y="3483864"/>
            <a:ext cx="2834640" cy="91440"/>
          </a:xfrm>
          <a:prstGeom prst="rect">
            <a:avLst/>
          </a:prstGeom>
          <a:solidFill>
            <a:srgbClr val="E2E8F0"/>
          </a:solidFill>
          <a:ln/>
        </p:spPr>
        <p:txBody>
          <a:bodyPr/>
          <a:lstStyle/>
          <a:p>
            <a:endParaRPr lang="en-US"/>
          </a:p>
        </p:txBody>
      </p:sp>
      <p:sp>
        <p:nvSpPr>
          <p:cNvPr id="21" name="Shape 18"/>
          <p:cNvSpPr/>
          <p:nvPr/>
        </p:nvSpPr>
        <p:spPr>
          <a:xfrm>
            <a:off x="6035040" y="3483864"/>
            <a:ext cx="850392" cy="91440"/>
          </a:xfrm>
          <a:prstGeom prst="rect">
            <a:avLst/>
          </a:prstGeom>
          <a:solidFill>
            <a:srgbClr val="1C2B4A"/>
          </a:solidFill>
          <a:ln/>
        </p:spPr>
        <p:txBody>
          <a:bodyPr/>
          <a:lstStyle/>
          <a:p>
            <a:endParaRPr lang="en-US"/>
          </a:p>
        </p:txBody>
      </p:sp>
      <p:sp>
        <p:nvSpPr>
          <p:cNvPr id="22" name="Text 19"/>
          <p:cNvSpPr/>
          <p:nvPr/>
        </p:nvSpPr>
        <p:spPr>
          <a:xfrm>
            <a:off x="6035040" y="3685032"/>
            <a:ext cx="1554480" cy="256032"/>
          </a:xfrm>
          <a:prstGeom prst="rect">
            <a:avLst/>
          </a:prstGeom>
          <a:noFill/>
          <a:ln/>
        </p:spPr>
        <p:txBody>
          <a:bodyPr wrap="square" rtlCol="0" anchor="ctr"/>
          <a:lstStyle/>
          <a:p>
            <a:pPr marL="0" indent="0">
              <a:buNone/>
            </a:pPr>
            <a:r>
              <a:rPr lang="en-US" sz="1000" dirty="0">
                <a:solidFill>
                  <a:srgbClr val="36454F"/>
                </a:solidFill>
                <a:latin typeface="Calibri" pitchFamily="34" charset="0"/>
                <a:ea typeface="Calibri" pitchFamily="34" charset="-122"/>
                <a:cs typeface="Calibri" pitchFamily="34" charset="-120"/>
              </a:rPr>
              <a:t>Healthcare</a:t>
            </a:r>
            <a:endParaRPr lang="en-US" sz="1000" dirty="0"/>
          </a:p>
        </p:txBody>
      </p:sp>
      <p:sp>
        <p:nvSpPr>
          <p:cNvPr id="23" name="Text 20"/>
          <p:cNvSpPr/>
          <p:nvPr/>
        </p:nvSpPr>
        <p:spPr>
          <a:xfrm>
            <a:off x="7635240" y="3685032"/>
            <a:ext cx="1234440" cy="256032"/>
          </a:xfrm>
          <a:prstGeom prst="rect">
            <a:avLst/>
          </a:prstGeom>
          <a:noFill/>
          <a:ln/>
        </p:spPr>
        <p:txBody>
          <a:bodyPr wrap="square" rtlCol="0" anchor="ctr"/>
          <a:lstStyle/>
          <a:p>
            <a:pPr marL="0" indent="0" algn="r">
              <a:buNone/>
            </a:pPr>
            <a:r>
              <a:rPr lang="en-US" sz="1000" b="1" dirty="0">
                <a:solidFill>
                  <a:srgbClr val="1C2B4A"/>
                </a:solidFill>
                <a:latin typeface="Calibri" pitchFamily="34" charset="0"/>
                <a:ea typeface="Calibri" pitchFamily="34" charset="-122"/>
                <a:cs typeface="Calibri" pitchFamily="34" charset="-120"/>
              </a:rPr>
              <a:t>68K  (6%)</a:t>
            </a:r>
            <a:endParaRPr lang="en-US" sz="1000" dirty="0"/>
          </a:p>
        </p:txBody>
      </p:sp>
      <p:sp>
        <p:nvSpPr>
          <p:cNvPr id="24" name="Shape 21"/>
          <p:cNvSpPr/>
          <p:nvPr/>
        </p:nvSpPr>
        <p:spPr>
          <a:xfrm>
            <a:off x="6035040" y="3959352"/>
            <a:ext cx="2834640" cy="91440"/>
          </a:xfrm>
          <a:prstGeom prst="rect">
            <a:avLst/>
          </a:prstGeom>
          <a:solidFill>
            <a:srgbClr val="E2E8F0"/>
          </a:solidFill>
          <a:ln/>
        </p:spPr>
        <p:txBody>
          <a:bodyPr/>
          <a:lstStyle/>
          <a:p>
            <a:endParaRPr lang="en-US"/>
          </a:p>
        </p:txBody>
      </p:sp>
      <p:sp>
        <p:nvSpPr>
          <p:cNvPr id="25" name="Shape 22"/>
          <p:cNvSpPr/>
          <p:nvPr/>
        </p:nvSpPr>
        <p:spPr>
          <a:xfrm>
            <a:off x="6035040" y="3959352"/>
            <a:ext cx="623621" cy="91440"/>
          </a:xfrm>
          <a:prstGeom prst="rect">
            <a:avLst/>
          </a:prstGeom>
          <a:solidFill>
            <a:srgbClr val="1C2B4A"/>
          </a:solidFill>
          <a:ln/>
        </p:spPr>
        <p:txBody>
          <a:bodyPr/>
          <a:lstStyle/>
          <a:p>
            <a:endParaRPr lang="en-US"/>
          </a:p>
        </p:txBody>
      </p:sp>
      <p:sp>
        <p:nvSpPr>
          <p:cNvPr id="26" name="Text 23"/>
          <p:cNvSpPr/>
          <p:nvPr/>
        </p:nvSpPr>
        <p:spPr>
          <a:xfrm>
            <a:off x="6035040" y="4160520"/>
            <a:ext cx="1554480" cy="256032"/>
          </a:xfrm>
          <a:prstGeom prst="rect">
            <a:avLst/>
          </a:prstGeom>
          <a:noFill/>
          <a:ln/>
        </p:spPr>
        <p:txBody>
          <a:bodyPr wrap="square" rtlCol="0" anchor="ctr"/>
          <a:lstStyle/>
          <a:p>
            <a:pPr marL="0" indent="0">
              <a:buNone/>
            </a:pPr>
            <a:r>
              <a:rPr lang="en-US" sz="1000" dirty="0">
                <a:solidFill>
                  <a:srgbClr val="36454F"/>
                </a:solidFill>
                <a:latin typeface="Calibri" pitchFamily="34" charset="0"/>
                <a:ea typeface="Calibri" pitchFamily="34" charset="-122"/>
                <a:cs typeface="Calibri" pitchFamily="34" charset="-120"/>
              </a:rPr>
              <a:t>Other</a:t>
            </a:r>
            <a:endParaRPr lang="en-US" sz="1000" dirty="0"/>
          </a:p>
        </p:txBody>
      </p:sp>
      <p:sp>
        <p:nvSpPr>
          <p:cNvPr id="27" name="Text 24"/>
          <p:cNvSpPr/>
          <p:nvPr/>
        </p:nvSpPr>
        <p:spPr>
          <a:xfrm>
            <a:off x="7635240" y="4160520"/>
            <a:ext cx="1234440" cy="256032"/>
          </a:xfrm>
          <a:prstGeom prst="rect">
            <a:avLst/>
          </a:prstGeom>
          <a:noFill/>
          <a:ln/>
        </p:spPr>
        <p:txBody>
          <a:bodyPr wrap="square" rtlCol="0" anchor="ctr"/>
          <a:lstStyle/>
          <a:p>
            <a:pPr marL="0" indent="0" algn="r">
              <a:buNone/>
            </a:pPr>
            <a:r>
              <a:rPr lang="en-US" sz="1000" b="1" dirty="0">
                <a:solidFill>
                  <a:srgbClr val="1C2B4A"/>
                </a:solidFill>
                <a:latin typeface="Calibri" pitchFamily="34" charset="0"/>
                <a:ea typeface="Calibri" pitchFamily="34" charset="-122"/>
                <a:cs typeface="Calibri" pitchFamily="34" charset="-120"/>
              </a:rPr>
              <a:t>487K  (40%)</a:t>
            </a:r>
            <a:endParaRPr lang="en-US" sz="1000" dirty="0"/>
          </a:p>
        </p:txBody>
      </p:sp>
      <p:sp>
        <p:nvSpPr>
          <p:cNvPr id="28" name="Shape 25"/>
          <p:cNvSpPr/>
          <p:nvPr/>
        </p:nvSpPr>
        <p:spPr>
          <a:xfrm>
            <a:off x="6035040" y="4434840"/>
            <a:ext cx="2834640" cy="91440"/>
          </a:xfrm>
          <a:prstGeom prst="rect">
            <a:avLst/>
          </a:prstGeom>
          <a:solidFill>
            <a:srgbClr val="E2E8F0"/>
          </a:solidFill>
          <a:ln/>
        </p:spPr>
        <p:txBody>
          <a:bodyPr/>
          <a:lstStyle/>
          <a:p>
            <a:endParaRPr lang="en-US"/>
          </a:p>
        </p:txBody>
      </p:sp>
      <p:sp>
        <p:nvSpPr>
          <p:cNvPr id="29" name="Text 26"/>
          <p:cNvSpPr/>
          <p:nvPr/>
        </p:nvSpPr>
        <p:spPr>
          <a:xfrm>
            <a:off x="365760" y="4800600"/>
            <a:ext cx="7315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Source: Challenger, Gray &amp; Christmas 2025 Year-End Report</a:t>
            </a:r>
            <a:endParaRPr lang="en-US" sz="900" dirty="0"/>
          </a:p>
        </p:txBody>
      </p:sp>
      <p:sp>
        <p:nvSpPr>
          <p:cNvPr id="30" name="Text 27"/>
          <p:cNvSpPr/>
          <p:nvPr/>
        </p:nvSpPr>
        <p:spPr>
          <a:xfrm>
            <a:off x="8595360" y="4800600"/>
            <a:ext cx="457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3"/>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rgbClr val="1C1C1E"/>
                </a:solidFill>
                <a:latin typeface="Calibri" pitchFamily="34" charset="0"/>
                <a:ea typeface="Calibri" pitchFamily="34" charset="-122"/>
                <a:cs typeface="Calibri" pitchFamily="34" charset="-120"/>
              </a:rPr>
              <a:t>AI is now the #1 stated reason for job cuts</a:t>
            </a:r>
            <a:endParaRPr lang="en-US" sz="3200" dirty="0"/>
          </a:p>
        </p:txBody>
      </p:sp>
      <p:sp>
        <p:nvSpPr>
          <p:cNvPr id="3" name="Text 1"/>
          <p:cNvSpPr/>
          <p:nvPr/>
        </p:nvSpPr>
        <p:spPr>
          <a:xfrm>
            <a:off x="457200" y="914400"/>
            <a:ext cx="8229600" cy="411480"/>
          </a:xfrm>
          <a:prstGeom prst="rect">
            <a:avLst/>
          </a:prstGeom>
          <a:noFill/>
          <a:ln/>
        </p:spPr>
        <p:txBody>
          <a:bodyPr wrap="square" lIns="0" tIns="0" rIns="0" bIns="0" rtlCol="0" anchor="ctr"/>
          <a:lstStyle/>
          <a:p>
            <a:pPr marL="0" indent="0">
              <a:buNone/>
            </a:pPr>
            <a:r>
              <a:rPr lang="en-US" sz="1500" dirty="0">
                <a:solidFill>
                  <a:srgbClr val="64748B"/>
                </a:solidFill>
                <a:latin typeface="Calibri" pitchFamily="34" charset="0"/>
                <a:ea typeface="Calibri" pitchFamily="34" charset="-122"/>
                <a:cs typeface="Calibri" pitchFamily="34" charset="-120"/>
              </a:rPr>
              <a:t>"Companies are shifting budgets toward AI investments at the expense of jobs"</a:t>
            </a:r>
            <a:endParaRPr lang="en-US" sz="1500" dirty="0"/>
          </a:p>
        </p:txBody>
      </p:sp>
      <p:graphicFrame>
        <p:nvGraphicFramePr>
          <p:cNvPr id="4" name="Chart 0"/>
          <p:cNvGraphicFramePr/>
          <p:nvPr/>
        </p:nvGraphicFramePr>
        <p:xfrm>
          <a:off x="365760" y="1325880"/>
          <a:ext cx="493776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577840" y="1325880"/>
            <a:ext cx="3337560" cy="749808"/>
          </a:xfrm>
          <a:prstGeom prst="rect">
            <a:avLst/>
          </a:prstGeom>
          <a:solidFill>
            <a:srgbClr val="FFFFFF"/>
          </a:solidFill>
          <a:ln/>
        </p:spPr>
        <p:txBody>
          <a:bodyPr/>
          <a:lstStyle/>
          <a:p>
            <a:endParaRPr lang="en-US"/>
          </a:p>
        </p:txBody>
      </p:sp>
      <p:sp>
        <p:nvSpPr>
          <p:cNvPr id="6" name="Text 3"/>
          <p:cNvSpPr/>
          <p:nvPr/>
        </p:nvSpPr>
        <p:spPr>
          <a:xfrm>
            <a:off x="5687568" y="1371600"/>
            <a:ext cx="3108960" cy="256032"/>
          </a:xfrm>
          <a:prstGeom prst="rect">
            <a:avLst/>
          </a:prstGeom>
          <a:noFill/>
          <a:ln/>
        </p:spPr>
        <p:txBody>
          <a:bodyPr wrap="square"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AI displacing coders</a:t>
            </a:r>
            <a:endParaRPr lang="en-US" sz="1200" dirty="0"/>
          </a:p>
        </p:txBody>
      </p:sp>
      <p:sp>
        <p:nvSpPr>
          <p:cNvPr id="7" name="Text 4"/>
          <p:cNvSpPr/>
          <p:nvPr/>
        </p:nvSpPr>
        <p:spPr>
          <a:xfrm>
            <a:off x="5687568" y="1627632"/>
            <a:ext cx="3108960" cy="384048"/>
          </a:xfrm>
          <a:prstGeom prst="rect">
            <a:avLst/>
          </a:prstGeom>
          <a:noFill/>
          <a:ln/>
        </p:spPr>
        <p:txBody>
          <a:bodyPr wrap="square" rtlCol="0" anchor="ctr"/>
          <a:lstStyle/>
          <a:p>
            <a:pPr marL="0" indent="0">
              <a:buNone/>
            </a:pPr>
            <a:r>
              <a:rPr lang="en-US" sz="1000" dirty="0">
                <a:solidFill>
                  <a:srgbClr val="36454F"/>
                </a:solidFill>
                <a:latin typeface="Calibri" pitchFamily="34" charset="0"/>
                <a:ea typeface="Calibri" pitchFamily="34" charset="-122"/>
                <a:cs typeface="Calibri" pitchFamily="34" charset="-120"/>
              </a:rPr>
              <a:t>Tech sector: 18,720 cuts in March 2026 alone. AI replacing coding functions directly.</a:t>
            </a:r>
            <a:endParaRPr lang="en-US" sz="1000" dirty="0"/>
          </a:p>
        </p:txBody>
      </p:sp>
      <p:sp>
        <p:nvSpPr>
          <p:cNvPr id="8" name="Shape 5"/>
          <p:cNvSpPr/>
          <p:nvPr/>
        </p:nvSpPr>
        <p:spPr>
          <a:xfrm>
            <a:off x="5577840" y="2148840"/>
            <a:ext cx="3337560" cy="749808"/>
          </a:xfrm>
          <a:prstGeom prst="rect">
            <a:avLst/>
          </a:prstGeom>
          <a:solidFill>
            <a:srgbClr val="F5F7FA"/>
          </a:solidFill>
          <a:ln/>
        </p:spPr>
        <p:txBody>
          <a:bodyPr/>
          <a:lstStyle/>
          <a:p>
            <a:endParaRPr lang="en-US"/>
          </a:p>
        </p:txBody>
      </p:sp>
      <p:sp>
        <p:nvSpPr>
          <p:cNvPr id="9" name="Text 6"/>
          <p:cNvSpPr/>
          <p:nvPr/>
        </p:nvSpPr>
        <p:spPr>
          <a:xfrm>
            <a:off x="5687568" y="2194560"/>
            <a:ext cx="3108960" cy="256032"/>
          </a:xfrm>
          <a:prstGeom prst="rect">
            <a:avLst/>
          </a:prstGeom>
          <a:noFill/>
          <a:ln/>
        </p:spPr>
        <p:txBody>
          <a:bodyPr wrap="square"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Budget reallocation</a:t>
            </a:r>
            <a:endParaRPr lang="en-US" sz="1200" dirty="0"/>
          </a:p>
        </p:txBody>
      </p:sp>
      <p:sp>
        <p:nvSpPr>
          <p:cNvPr id="10" name="Text 7"/>
          <p:cNvSpPr/>
          <p:nvPr/>
        </p:nvSpPr>
        <p:spPr>
          <a:xfrm>
            <a:off x="5687568" y="2450592"/>
            <a:ext cx="3108960" cy="384048"/>
          </a:xfrm>
          <a:prstGeom prst="rect">
            <a:avLst/>
          </a:prstGeom>
          <a:noFill/>
          <a:ln/>
        </p:spPr>
        <p:txBody>
          <a:bodyPr wrap="square" rtlCol="0" anchor="ctr"/>
          <a:lstStyle/>
          <a:p>
            <a:pPr marL="0" indent="0">
              <a:buNone/>
            </a:pPr>
            <a:r>
              <a:rPr lang="en-US" sz="1000" dirty="0">
                <a:solidFill>
                  <a:srgbClr val="36454F"/>
                </a:solidFill>
                <a:latin typeface="Calibri" pitchFamily="34" charset="0"/>
                <a:ea typeface="Calibri" pitchFamily="34" charset="-122"/>
                <a:cs typeface="Calibri" pitchFamily="34" charset="-120"/>
              </a:rPr>
              <a:t>Companies cutting headcount to fund AI capex — the same story inside and outside tech.</a:t>
            </a:r>
            <a:endParaRPr lang="en-US" sz="1000" dirty="0"/>
          </a:p>
        </p:txBody>
      </p:sp>
      <p:sp>
        <p:nvSpPr>
          <p:cNvPr id="11" name="Shape 8"/>
          <p:cNvSpPr/>
          <p:nvPr/>
        </p:nvSpPr>
        <p:spPr>
          <a:xfrm>
            <a:off x="5577840" y="2971800"/>
            <a:ext cx="3337560" cy="749808"/>
          </a:xfrm>
          <a:prstGeom prst="rect">
            <a:avLst/>
          </a:prstGeom>
          <a:solidFill>
            <a:srgbClr val="FFFFFF"/>
          </a:solidFill>
          <a:ln/>
        </p:spPr>
        <p:txBody>
          <a:bodyPr/>
          <a:lstStyle/>
          <a:p>
            <a:endParaRPr lang="en-US"/>
          </a:p>
        </p:txBody>
      </p:sp>
      <p:sp>
        <p:nvSpPr>
          <p:cNvPr id="12" name="Text 9"/>
          <p:cNvSpPr/>
          <p:nvPr/>
        </p:nvSpPr>
        <p:spPr>
          <a:xfrm>
            <a:off x="5687568" y="3017520"/>
            <a:ext cx="3108960" cy="256032"/>
          </a:xfrm>
          <a:prstGeom prst="rect">
            <a:avLst/>
          </a:prstGeom>
          <a:noFill/>
          <a:ln/>
        </p:spPr>
        <p:txBody>
          <a:bodyPr wrap="square"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Healthcare: last shelter</a:t>
            </a:r>
            <a:endParaRPr lang="en-US" sz="1200" dirty="0"/>
          </a:p>
        </p:txBody>
      </p:sp>
      <p:sp>
        <p:nvSpPr>
          <p:cNvPr id="13" name="Text 10"/>
          <p:cNvSpPr/>
          <p:nvPr/>
        </p:nvSpPr>
        <p:spPr>
          <a:xfrm>
            <a:off x="5687568" y="3273552"/>
            <a:ext cx="3108960" cy="384048"/>
          </a:xfrm>
          <a:prstGeom prst="rect">
            <a:avLst/>
          </a:prstGeom>
          <a:noFill/>
          <a:ln/>
        </p:spPr>
        <p:txBody>
          <a:bodyPr wrap="square" rtlCol="0" anchor="ctr"/>
          <a:lstStyle/>
          <a:p>
            <a:pPr marL="0" indent="0">
              <a:buNone/>
            </a:pPr>
            <a:r>
              <a:rPr lang="en-US" sz="1000" dirty="0">
                <a:solidFill>
                  <a:srgbClr val="36454F"/>
                </a:solidFill>
                <a:latin typeface="Calibri" pitchFamily="34" charset="0"/>
                <a:ea typeface="Calibri" pitchFamily="34" charset="-122"/>
                <a:cs typeface="Calibri" pitchFamily="34" charset="-120"/>
              </a:rPr>
              <a:t>Only sector consistently adding jobs. +29,000/month average over past 12 months.</a:t>
            </a:r>
            <a:endParaRPr lang="en-US" sz="1000" dirty="0"/>
          </a:p>
        </p:txBody>
      </p:sp>
      <p:sp>
        <p:nvSpPr>
          <p:cNvPr id="14" name="Shape 11"/>
          <p:cNvSpPr/>
          <p:nvPr/>
        </p:nvSpPr>
        <p:spPr>
          <a:xfrm>
            <a:off x="5577840" y="3794760"/>
            <a:ext cx="3337560" cy="749808"/>
          </a:xfrm>
          <a:prstGeom prst="rect">
            <a:avLst/>
          </a:prstGeom>
          <a:solidFill>
            <a:srgbClr val="F5F7FA"/>
          </a:solidFill>
          <a:ln/>
        </p:spPr>
        <p:txBody>
          <a:bodyPr/>
          <a:lstStyle/>
          <a:p>
            <a:endParaRPr lang="en-US"/>
          </a:p>
        </p:txBody>
      </p:sp>
      <p:sp>
        <p:nvSpPr>
          <p:cNvPr id="15" name="Text 12"/>
          <p:cNvSpPr/>
          <p:nvPr/>
        </p:nvSpPr>
        <p:spPr>
          <a:xfrm>
            <a:off x="5687568" y="3840480"/>
            <a:ext cx="3108960" cy="256032"/>
          </a:xfrm>
          <a:prstGeom prst="rect">
            <a:avLst/>
          </a:prstGeom>
          <a:noFill/>
          <a:ln/>
        </p:spPr>
        <p:txBody>
          <a:bodyPr wrap="square"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But it's early</a:t>
            </a:r>
            <a:endParaRPr lang="en-US" sz="1200" dirty="0"/>
          </a:p>
        </p:txBody>
      </p:sp>
      <p:sp>
        <p:nvSpPr>
          <p:cNvPr id="16" name="Text 13"/>
          <p:cNvSpPr/>
          <p:nvPr/>
        </p:nvSpPr>
        <p:spPr>
          <a:xfrm>
            <a:off x="5687568" y="4096512"/>
            <a:ext cx="3108960" cy="384048"/>
          </a:xfrm>
          <a:prstGeom prst="rect">
            <a:avLst/>
          </a:prstGeom>
          <a:noFill/>
          <a:ln/>
        </p:spPr>
        <p:txBody>
          <a:bodyPr wrap="square" rtlCol="0" anchor="ctr"/>
          <a:lstStyle/>
          <a:p>
            <a:pPr marL="0" indent="0">
              <a:buNone/>
            </a:pPr>
            <a:r>
              <a:rPr lang="en-US" sz="1000" dirty="0">
                <a:solidFill>
                  <a:srgbClr val="36454F"/>
                </a:solidFill>
                <a:latin typeface="Calibri" pitchFamily="34" charset="0"/>
                <a:ea typeface="Calibri" pitchFamily="34" charset="-122"/>
                <a:cs typeface="Calibri" pitchFamily="34" charset="-120"/>
              </a:rPr>
              <a:t>AI-cited cuts are ~13% of 2026 YTD total. Structural change, not a flood. Yet.</a:t>
            </a:r>
            <a:endParaRPr lang="en-US" sz="1000" dirty="0"/>
          </a:p>
        </p:txBody>
      </p:sp>
      <p:sp>
        <p:nvSpPr>
          <p:cNvPr id="17" name="Text 14"/>
          <p:cNvSpPr/>
          <p:nvPr/>
        </p:nvSpPr>
        <p:spPr>
          <a:xfrm>
            <a:off x="365760" y="4800600"/>
            <a:ext cx="7315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Source: Challenger Gray &amp; Christmas; Andy Challenger, CRO</a:t>
            </a:r>
            <a:endParaRPr lang="en-US" sz="900" dirty="0"/>
          </a:p>
        </p:txBody>
      </p:sp>
      <p:sp>
        <p:nvSpPr>
          <p:cNvPr id="18" name="Text 15"/>
          <p:cNvSpPr/>
          <p:nvPr/>
        </p:nvSpPr>
        <p:spPr>
          <a:xfrm>
            <a:off x="8595360" y="4800600"/>
            <a:ext cx="457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3"/>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685800"/>
          </a:xfrm>
          <a:prstGeom prst="rect">
            <a:avLst/>
          </a:prstGeom>
          <a:noFill/>
          <a:ln/>
        </p:spPr>
        <p:txBody>
          <a:bodyPr wrap="square" lIns="0" tIns="0" rIns="0" bIns="0" rtlCol="0" anchor="ctr"/>
          <a:lstStyle/>
          <a:p>
            <a:pPr marL="0" indent="0">
              <a:buNone/>
            </a:pPr>
            <a:r>
              <a:rPr lang="en-US" sz="2800" b="1" dirty="0">
                <a:solidFill>
                  <a:srgbClr val="1C1C1E"/>
                </a:solidFill>
                <a:latin typeface="Calibri" pitchFamily="34" charset="0"/>
                <a:ea typeface="Calibri" pitchFamily="34" charset="-122"/>
                <a:cs typeface="Calibri" pitchFamily="34" charset="-120"/>
              </a:rPr>
              <a:t>Federal government: −355,000 jobs since the peak</a:t>
            </a:r>
            <a:endParaRPr lang="en-US" sz="2800" dirty="0"/>
          </a:p>
        </p:txBody>
      </p:sp>
      <p:sp>
        <p:nvSpPr>
          <p:cNvPr id="3" name="Text 1"/>
          <p:cNvSpPr/>
          <p:nvPr/>
        </p:nvSpPr>
        <p:spPr>
          <a:xfrm>
            <a:off x="457200" y="914400"/>
            <a:ext cx="8229600" cy="411480"/>
          </a:xfrm>
          <a:prstGeom prst="rect">
            <a:avLst/>
          </a:prstGeom>
          <a:noFill/>
          <a:ln/>
        </p:spPr>
        <p:txBody>
          <a:bodyPr wrap="square" lIns="0" tIns="0" rIns="0" bIns="0" rtlCol="0" anchor="ctr"/>
          <a:lstStyle/>
          <a:p>
            <a:pPr marL="0" indent="0">
              <a:buNone/>
            </a:pPr>
            <a:r>
              <a:rPr lang="en-US" sz="1500" dirty="0">
                <a:solidFill>
                  <a:srgbClr val="64748B"/>
                </a:solidFill>
                <a:latin typeface="Calibri" pitchFamily="34" charset="0"/>
                <a:ea typeface="Calibri" pitchFamily="34" charset="-122"/>
                <a:cs typeface="Calibri" pitchFamily="34" charset="-120"/>
              </a:rPr>
              <a:t>The largest public sector contraction in modern history</a:t>
            </a:r>
            <a:endParaRPr lang="en-US" sz="1500" dirty="0"/>
          </a:p>
        </p:txBody>
      </p:sp>
      <p:graphicFrame>
        <p:nvGraphicFramePr>
          <p:cNvPr id="4" name="Chart 0"/>
          <p:cNvGraphicFramePr/>
          <p:nvPr/>
        </p:nvGraphicFramePr>
        <p:xfrm>
          <a:off x="365760" y="1325880"/>
          <a:ext cx="539496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760720" y="1463040"/>
            <a:ext cx="1371600" cy="1417320"/>
          </a:xfrm>
          <a:prstGeom prst="rect">
            <a:avLst/>
          </a:prstGeom>
          <a:solidFill>
            <a:srgbClr val="FFFFFF"/>
          </a:solidFill>
          <a:ln/>
          <a:effectLst>
            <a:outerShdw blurRad="76200" dist="12700" dir="8100000" algn="bl" rotWithShape="0">
              <a:srgbClr val="000000">
                <a:alpha val="9000"/>
              </a:srgbClr>
            </a:outerShdw>
          </a:effectLst>
        </p:spPr>
        <p:txBody>
          <a:bodyPr/>
          <a:lstStyle/>
          <a:p>
            <a:endParaRPr lang="en-US"/>
          </a:p>
        </p:txBody>
      </p:sp>
      <p:sp>
        <p:nvSpPr>
          <p:cNvPr id="6" name="Text 3"/>
          <p:cNvSpPr/>
          <p:nvPr/>
        </p:nvSpPr>
        <p:spPr>
          <a:xfrm>
            <a:off x="5833872" y="1572768"/>
            <a:ext cx="1225296" cy="594360"/>
          </a:xfrm>
          <a:prstGeom prst="rect">
            <a:avLst/>
          </a:prstGeom>
          <a:noFill/>
          <a:ln/>
        </p:spPr>
        <p:txBody>
          <a:bodyPr wrap="square" rtlCol="0" anchor="ctr"/>
          <a:lstStyle/>
          <a:p>
            <a:pPr marL="0" indent="0" algn="ctr">
              <a:buNone/>
            </a:pPr>
            <a:r>
              <a:rPr lang="en-US" sz="2200" b="1" dirty="0">
                <a:solidFill>
                  <a:srgbClr val="D0291A"/>
                </a:solidFill>
                <a:latin typeface="Calibri" pitchFamily="34" charset="0"/>
                <a:ea typeface="Calibri" pitchFamily="34" charset="-122"/>
                <a:cs typeface="Calibri" pitchFamily="34" charset="-120"/>
              </a:rPr>
              <a:t>−355K</a:t>
            </a:r>
            <a:endParaRPr lang="en-US" sz="2200" dirty="0"/>
          </a:p>
        </p:txBody>
      </p:sp>
      <p:sp>
        <p:nvSpPr>
          <p:cNvPr id="7" name="Text 4"/>
          <p:cNvSpPr/>
          <p:nvPr/>
        </p:nvSpPr>
        <p:spPr>
          <a:xfrm>
            <a:off x="5833872" y="2176272"/>
            <a:ext cx="1225296" cy="594360"/>
          </a:xfrm>
          <a:prstGeom prst="rect">
            <a:avLst/>
          </a:prstGeom>
          <a:noFill/>
          <a:ln/>
        </p:spPr>
        <p:txBody>
          <a:bodyPr wrap="square" rtlCol="0" anchor="ctr"/>
          <a:lstStyle/>
          <a:p>
            <a:pPr marL="0" indent="0" algn="ctr">
              <a:buNone/>
            </a:pPr>
            <a:r>
              <a:rPr lang="en-US" sz="950" dirty="0">
                <a:solidFill>
                  <a:srgbClr val="36454F"/>
                </a:solidFill>
                <a:latin typeface="Calibri" pitchFamily="34" charset="0"/>
                <a:ea typeface="Calibri" pitchFamily="34" charset="-122"/>
                <a:cs typeface="Calibri" pitchFamily="34" charset="-120"/>
              </a:rPr>
              <a:t>Federal jobs lost since</a:t>
            </a:r>
            <a:endParaRPr lang="en-US" sz="950" dirty="0"/>
          </a:p>
          <a:p>
            <a:pPr marL="0" indent="0" algn="ctr">
              <a:buNone/>
            </a:pPr>
            <a:r>
              <a:rPr lang="en-US" sz="950" dirty="0">
                <a:solidFill>
                  <a:srgbClr val="36454F"/>
                </a:solidFill>
                <a:latin typeface="Calibri" pitchFamily="34" charset="0"/>
                <a:ea typeface="Calibri" pitchFamily="34" charset="-122"/>
                <a:cs typeface="Calibri" pitchFamily="34" charset="-120"/>
              </a:rPr>
              <a:t>Oct 2024 peak (−11.8%)</a:t>
            </a:r>
            <a:endParaRPr lang="en-US" sz="950" dirty="0"/>
          </a:p>
        </p:txBody>
      </p:sp>
      <p:sp>
        <p:nvSpPr>
          <p:cNvPr id="8" name="Shape 5"/>
          <p:cNvSpPr/>
          <p:nvPr/>
        </p:nvSpPr>
        <p:spPr>
          <a:xfrm>
            <a:off x="5760720" y="3108960"/>
            <a:ext cx="1371600" cy="1417320"/>
          </a:xfrm>
          <a:prstGeom prst="rect">
            <a:avLst/>
          </a:prstGeom>
          <a:solidFill>
            <a:srgbClr val="FFFFFF"/>
          </a:solidFill>
          <a:ln/>
          <a:effectLst>
            <a:outerShdw blurRad="76200" dist="12700" dir="8100000" algn="bl" rotWithShape="0">
              <a:srgbClr val="000000">
                <a:alpha val="9000"/>
              </a:srgbClr>
            </a:outerShdw>
          </a:effectLst>
        </p:spPr>
        <p:txBody>
          <a:bodyPr/>
          <a:lstStyle/>
          <a:p>
            <a:endParaRPr lang="en-US"/>
          </a:p>
        </p:txBody>
      </p:sp>
      <p:sp>
        <p:nvSpPr>
          <p:cNvPr id="9" name="Text 6"/>
          <p:cNvSpPr/>
          <p:nvPr/>
        </p:nvSpPr>
        <p:spPr>
          <a:xfrm>
            <a:off x="5833872" y="3218688"/>
            <a:ext cx="1225296" cy="594360"/>
          </a:xfrm>
          <a:prstGeom prst="rect">
            <a:avLst/>
          </a:prstGeom>
          <a:noFill/>
          <a:ln/>
        </p:spPr>
        <p:txBody>
          <a:bodyPr wrap="square" rtlCol="0" anchor="ctr"/>
          <a:lstStyle/>
          <a:p>
            <a:pPr marL="0" indent="0" algn="ctr">
              <a:buNone/>
            </a:pPr>
            <a:r>
              <a:rPr lang="en-US" sz="2200" b="1" dirty="0">
                <a:solidFill>
                  <a:srgbClr val="1C2B4A"/>
                </a:solidFill>
                <a:latin typeface="Calibri" pitchFamily="34" charset="0"/>
                <a:ea typeface="Calibri" pitchFamily="34" charset="-122"/>
                <a:cs typeface="Calibri" pitchFamily="34" charset="-120"/>
              </a:rPr>
              <a:t>−18K</a:t>
            </a:r>
            <a:endParaRPr lang="en-US" sz="2200" dirty="0"/>
          </a:p>
        </p:txBody>
      </p:sp>
      <p:sp>
        <p:nvSpPr>
          <p:cNvPr id="10" name="Text 7"/>
          <p:cNvSpPr/>
          <p:nvPr/>
        </p:nvSpPr>
        <p:spPr>
          <a:xfrm>
            <a:off x="5833872" y="3822192"/>
            <a:ext cx="1225296" cy="594360"/>
          </a:xfrm>
          <a:prstGeom prst="rect">
            <a:avLst/>
          </a:prstGeom>
          <a:noFill/>
          <a:ln/>
        </p:spPr>
        <p:txBody>
          <a:bodyPr wrap="square" rtlCol="0" anchor="ctr"/>
          <a:lstStyle/>
          <a:p>
            <a:pPr marL="0" indent="0" algn="ctr">
              <a:buNone/>
            </a:pPr>
            <a:r>
              <a:rPr lang="en-US" sz="950" dirty="0">
                <a:solidFill>
                  <a:srgbClr val="36454F"/>
                </a:solidFill>
                <a:latin typeface="Calibri" pitchFamily="34" charset="0"/>
                <a:ea typeface="Calibri" pitchFamily="34" charset="-122"/>
                <a:cs typeface="Calibri" pitchFamily="34" charset="-120"/>
              </a:rPr>
              <a:t>Federal jobs in March</a:t>
            </a:r>
            <a:endParaRPr lang="en-US" sz="950" dirty="0"/>
          </a:p>
          <a:p>
            <a:pPr marL="0" indent="0" algn="ctr">
              <a:buNone/>
            </a:pPr>
            <a:r>
              <a:rPr lang="en-US" sz="950" dirty="0">
                <a:solidFill>
                  <a:srgbClr val="36454F"/>
                </a:solidFill>
                <a:latin typeface="Calibri" pitchFamily="34" charset="0"/>
                <a:ea typeface="Calibri" pitchFamily="34" charset="-122"/>
                <a:cs typeface="Calibri" pitchFamily="34" charset="-120"/>
              </a:rPr>
              <a:t>2026 alone</a:t>
            </a:r>
            <a:endParaRPr lang="en-US" sz="950" dirty="0"/>
          </a:p>
        </p:txBody>
      </p:sp>
      <p:sp>
        <p:nvSpPr>
          <p:cNvPr id="11" name="Shape 8"/>
          <p:cNvSpPr/>
          <p:nvPr/>
        </p:nvSpPr>
        <p:spPr>
          <a:xfrm>
            <a:off x="7269480" y="1463040"/>
            <a:ext cx="1371600" cy="1417320"/>
          </a:xfrm>
          <a:prstGeom prst="rect">
            <a:avLst/>
          </a:prstGeom>
          <a:solidFill>
            <a:srgbClr val="FFFFFF"/>
          </a:solidFill>
          <a:ln/>
          <a:effectLst>
            <a:outerShdw blurRad="76200" dist="12700" dir="8100000" algn="bl" rotWithShape="0">
              <a:srgbClr val="000000">
                <a:alpha val="9000"/>
              </a:srgbClr>
            </a:outerShdw>
          </a:effectLst>
        </p:spPr>
        <p:txBody>
          <a:bodyPr/>
          <a:lstStyle/>
          <a:p>
            <a:endParaRPr lang="en-US"/>
          </a:p>
        </p:txBody>
      </p:sp>
      <p:sp>
        <p:nvSpPr>
          <p:cNvPr id="12" name="Text 9"/>
          <p:cNvSpPr/>
          <p:nvPr/>
        </p:nvSpPr>
        <p:spPr>
          <a:xfrm>
            <a:off x="7342632" y="1572768"/>
            <a:ext cx="1225296" cy="594360"/>
          </a:xfrm>
          <a:prstGeom prst="rect">
            <a:avLst/>
          </a:prstGeom>
          <a:noFill/>
          <a:ln/>
        </p:spPr>
        <p:txBody>
          <a:bodyPr wrap="square" rtlCol="0" anchor="ctr"/>
          <a:lstStyle/>
          <a:p>
            <a:pPr marL="0" indent="0" algn="ctr">
              <a:buNone/>
            </a:pPr>
            <a:r>
              <a:rPr lang="en-US" sz="2200" b="1" dirty="0">
                <a:solidFill>
                  <a:srgbClr val="D0291A"/>
                </a:solidFill>
                <a:latin typeface="Calibri" pitchFamily="34" charset="0"/>
                <a:ea typeface="Calibri" pitchFamily="34" charset="-122"/>
                <a:cs typeface="Calibri" pitchFamily="34" charset="-120"/>
              </a:rPr>
              <a:t>293K</a:t>
            </a:r>
            <a:endParaRPr lang="en-US" sz="2200" dirty="0"/>
          </a:p>
        </p:txBody>
      </p:sp>
      <p:sp>
        <p:nvSpPr>
          <p:cNvPr id="13" name="Text 10"/>
          <p:cNvSpPr/>
          <p:nvPr/>
        </p:nvSpPr>
        <p:spPr>
          <a:xfrm>
            <a:off x="7342632" y="2176272"/>
            <a:ext cx="1225296" cy="594360"/>
          </a:xfrm>
          <a:prstGeom prst="rect">
            <a:avLst/>
          </a:prstGeom>
          <a:noFill/>
          <a:ln/>
        </p:spPr>
        <p:txBody>
          <a:bodyPr wrap="square" rtlCol="0" anchor="ctr"/>
          <a:lstStyle/>
          <a:p>
            <a:pPr marL="0" indent="0" algn="ctr">
              <a:buNone/>
            </a:pPr>
            <a:r>
              <a:rPr lang="en-US" sz="950" dirty="0">
                <a:solidFill>
                  <a:srgbClr val="36454F"/>
                </a:solidFill>
                <a:latin typeface="Calibri" pitchFamily="34" charset="0"/>
                <a:ea typeface="Calibri" pitchFamily="34" charset="-122"/>
                <a:cs typeface="Calibri" pitchFamily="34" charset="-120"/>
              </a:rPr>
              <a:t>DOGE-attributable</a:t>
            </a:r>
            <a:endParaRPr lang="en-US" sz="950" dirty="0"/>
          </a:p>
          <a:p>
            <a:pPr marL="0" indent="0" algn="ctr">
              <a:buNone/>
            </a:pPr>
            <a:r>
              <a:rPr lang="en-US" sz="950" dirty="0">
                <a:solidFill>
                  <a:srgbClr val="36454F"/>
                </a:solidFill>
                <a:latin typeface="Calibri" pitchFamily="34" charset="0"/>
                <a:ea typeface="Calibri" pitchFamily="34" charset="-122"/>
                <a:cs typeface="Calibri" pitchFamily="34" charset="-120"/>
              </a:rPr>
              <a:t>announcements in 2025</a:t>
            </a:r>
            <a:endParaRPr lang="en-US" sz="950" dirty="0"/>
          </a:p>
        </p:txBody>
      </p:sp>
      <p:sp>
        <p:nvSpPr>
          <p:cNvPr id="14" name="Shape 11"/>
          <p:cNvSpPr/>
          <p:nvPr/>
        </p:nvSpPr>
        <p:spPr>
          <a:xfrm>
            <a:off x="7269480" y="3108960"/>
            <a:ext cx="1371600" cy="1417320"/>
          </a:xfrm>
          <a:prstGeom prst="rect">
            <a:avLst/>
          </a:prstGeom>
          <a:solidFill>
            <a:srgbClr val="FFFFFF"/>
          </a:solidFill>
          <a:ln/>
          <a:effectLst>
            <a:outerShdw blurRad="76200" dist="12700" dir="8100000" algn="bl" rotWithShape="0">
              <a:srgbClr val="000000">
                <a:alpha val="9000"/>
              </a:srgbClr>
            </a:outerShdw>
          </a:effectLst>
        </p:spPr>
        <p:txBody>
          <a:bodyPr/>
          <a:lstStyle/>
          <a:p>
            <a:endParaRPr lang="en-US"/>
          </a:p>
        </p:txBody>
      </p:sp>
      <p:sp>
        <p:nvSpPr>
          <p:cNvPr id="15" name="Text 12"/>
          <p:cNvSpPr/>
          <p:nvPr/>
        </p:nvSpPr>
        <p:spPr>
          <a:xfrm>
            <a:off x="7342632" y="3218688"/>
            <a:ext cx="1225296" cy="594360"/>
          </a:xfrm>
          <a:prstGeom prst="rect">
            <a:avLst/>
          </a:prstGeom>
          <a:noFill/>
          <a:ln/>
        </p:spPr>
        <p:txBody>
          <a:bodyPr wrap="square" rtlCol="0" anchor="ctr"/>
          <a:lstStyle/>
          <a:p>
            <a:pPr marL="0" indent="0" algn="ctr">
              <a:buNone/>
            </a:pPr>
            <a:r>
              <a:rPr lang="en-US" sz="2200" b="1" dirty="0">
                <a:solidFill>
                  <a:srgbClr val="1C2B4A"/>
                </a:solidFill>
                <a:latin typeface="Calibri" pitchFamily="34" charset="0"/>
                <a:ea typeface="Calibri" pitchFamily="34" charset="-122"/>
                <a:cs typeface="Calibri" pitchFamily="34" charset="-120"/>
              </a:rPr>
              <a:t>−$77B</a:t>
            </a:r>
            <a:endParaRPr lang="en-US" sz="2200" dirty="0"/>
          </a:p>
        </p:txBody>
      </p:sp>
      <p:sp>
        <p:nvSpPr>
          <p:cNvPr id="16" name="Text 13"/>
          <p:cNvSpPr/>
          <p:nvPr/>
        </p:nvSpPr>
        <p:spPr>
          <a:xfrm>
            <a:off x="7342632" y="3822192"/>
            <a:ext cx="1225296" cy="594360"/>
          </a:xfrm>
          <a:prstGeom prst="rect">
            <a:avLst/>
          </a:prstGeom>
          <a:noFill/>
          <a:ln/>
        </p:spPr>
        <p:txBody>
          <a:bodyPr wrap="square" rtlCol="0" anchor="ctr"/>
          <a:lstStyle/>
          <a:p>
            <a:pPr marL="0" indent="0" algn="ctr">
              <a:buNone/>
            </a:pPr>
            <a:r>
              <a:rPr lang="en-US" sz="950" dirty="0">
                <a:solidFill>
                  <a:srgbClr val="36454F"/>
                </a:solidFill>
                <a:latin typeface="Calibri" pitchFamily="34" charset="0"/>
                <a:ea typeface="Calibri" pitchFamily="34" charset="-122"/>
                <a:cs typeface="Calibri" pitchFamily="34" charset="-120"/>
              </a:rPr>
              <a:t>Financial activities</a:t>
            </a:r>
            <a:endParaRPr lang="en-US" sz="950" dirty="0"/>
          </a:p>
          <a:p>
            <a:pPr marL="0" indent="0" algn="ctr">
              <a:buNone/>
            </a:pPr>
            <a:r>
              <a:rPr lang="en-US" sz="950" dirty="0">
                <a:solidFill>
                  <a:srgbClr val="36454F"/>
                </a:solidFill>
                <a:latin typeface="Calibri" pitchFamily="34" charset="0"/>
                <a:ea typeface="Calibri" pitchFamily="34" charset="-122"/>
                <a:cs typeface="Calibri" pitchFamily="34" charset="-120"/>
              </a:rPr>
              <a:t>jobs lost since May 2025</a:t>
            </a:r>
            <a:endParaRPr lang="en-US" sz="950" dirty="0"/>
          </a:p>
        </p:txBody>
      </p:sp>
      <p:sp>
        <p:nvSpPr>
          <p:cNvPr id="17" name="Text 14"/>
          <p:cNvSpPr/>
          <p:nvPr/>
        </p:nvSpPr>
        <p:spPr>
          <a:xfrm>
            <a:off x="365760" y="4800600"/>
            <a:ext cx="7315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Source: BLS Employment Situation Mar 2026; Challenger 2025 Year-End</a:t>
            </a:r>
            <a:endParaRPr lang="en-US" sz="900" dirty="0"/>
          </a:p>
        </p:txBody>
      </p:sp>
      <p:sp>
        <p:nvSpPr>
          <p:cNvPr id="18" name="Text 15"/>
          <p:cNvSpPr/>
          <p:nvPr/>
        </p:nvSpPr>
        <p:spPr>
          <a:xfrm>
            <a:off x="8595360" y="4800600"/>
            <a:ext cx="457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3"/>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rgbClr val="1C1C1E"/>
                </a:solidFill>
                <a:latin typeface="Calibri" pitchFamily="34" charset="0"/>
                <a:ea typeface="Calibri" pitchFamily="34" charset="-122"/>
                <a:cs typeface="Calibri" pitchFamily="34" charset="-120"/>
              </a:rPr>
              <a:t>The revision problem: data we can barely trust</a:t>
            </a:r>
            <a:endParaRPr lang="en-US" sz="3200" dirty="0"/>
          </a:p>
        </p:txBody>
      </p:sp>
      <p:sp>
        <p:nvSpPr>
          <p:cNvPr id="3" name="Text 1"/>
          <p:cNvSpPr/>
          <p:nvPr/>
        </p:nvSpPr>
        <p:spPr>
          <a:xfrm>
            <a:off x="457200" y="914400"/>
            <a:ext cx="8229600" cy="411480"/>
          </a:xfrm>
          <a:prstGeom prst="rect">
            <a:avLst/>
          </a:prstGeom>
          <a:noFill/>
          <a:ln/>
        </p:spPr>
        <p:txBody>
          <a:bodyPr wrap="square" lIns="0" tIns="0" rIns="0" bIns="0" rtlCol="0" anchor="ctr"/>
          <a:lstStyle/>
          <a:p>
            <a:pPr marL="0" indent="0">
              <a:buNone/>
            </a:pPr>
            <a:r>
              <a:rPr lang="en-US" sz="1500" dirty="0">
                <a:solidFill>
                  <a:srgbClr val="64748B"/>
                </a:solidFill>
                <a:latin typeface="Calibri" pitchFamily="34" charset="0"/>
                <a:ea typeface="Calibri" pitchFamily="34" charset="-122"/>
                <a:cs typeface="Calibri" pitchFamily="34" charset="-120"/>
              </a:rPr>
              <a:t>2025 payrolls were revised down by 403,000 — after the year was already history</a:t>
            </a:r>
            <a:endParaRPr lang="en-US" sz="1500" dirty="0"/>
          </a:p>
        </p:txBody>
      </p:sp>
      <p:graphicFrame>
        <p:nvGraphicFramePr>
          <p:cNvPr id="4" name="Chart 0"/>
          <p:cNvGraphicFramePr/>
          <p:nvPr/>
        </p:nvGraphicFramePr>
        <p:xfrm>
          <a:off x="365760" y="1325880"/>
          <a:ext cx="548640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172200" y="1371600"/>
            <a:ext cx="2743200" cy="749808"/>
          </a:xfrm>
          <a:prstGeom prst="rect">
            <a:avLst/>
          </a:prstGeom>
          <a:solidFill>
            <a:srgbClr val="FFFFFF"/>
          </a:solidFill>
          <a:ln/>
        </p:spPr>
        <p:txBody>
          <a:bodyPr/>
          <a:lstStyle/>
          <a:p>
            <a:endParaRPr lang="en-US"/>
          </a:p>
        </p:txBody>
      </p:sp>
      <p:sp>
        <p:nvSpPr>
          <p:cNvPr id="6" name="Text 3"/>
          <p:cNvSpPr/>
          <p:nvPr/>
        </p:nvSpPr>
        <p:spPr>
          <a:xfrm>
            <a:off x="6263640" y="1417320"/>
            <a:ext cx="868680" cy="320040"/>
          </a:xfrm>
          <a:prstGeom prst="rect">
            <a:avLst/>
          </a:prstGeom>
          <a:noFill/>
          <a:ln/>
        </p:spPr>
        <p:txBody>
          <a:bodyPr wrap="square" rtlCol="0" anchor="ctr"/>
          <a:lstStyle/>
          <a:p>
            <a:pPr marL="0" indent="0">
              <a:buNone/>
            </a:pPr>
            <a:r>
              <a:rPr lang="en-US" sz="1400" b="1" dirty="0">
                <a:solidFill>
                  <a:srgbClr val="D0291A"/>
                </a:solidFill>
                <a:latin typeface="Calibri" pitchFamily="34" charset="0"/>
                <a:ea typeface="Calibri" pitchFamily="34" charset="-122"/>
                <a:cs typeface="Calibri" pitchFamily="34" charset="-120"/>
              </a:rPr>
              <a:t>−403,000</a:t>
            </a:r>
            <a:endParaRPr lang="en-US" sz="1400" dirty="0"/>
          </a:p>
        </p:txBody>
      </p:sp>
      <p:sp>
        <p:nvSpPr>
          <p:cNvPr id="7" name="Text 4"/>
          <p:cNvSpPr/>
          <p:nvPr/>
        </p:nvSpPr>
        <p:spPr>
          <a:xfrm>
            <a:off x="7178040" y="1444752"/>
            <a:ext cx="1645920" cy="274320"/>
          </a:xfrm>
          <a:prstGeom prst="rect">
            <a:avLst/>
          </a:prstGeom>
          <a:noFill/>
          <a:ln/>
        </p:spPr>
        <p:txBody>
          <a:bodyPr wrap="square" rtlCol="0" anchor="ctr"/>
          <a:lstStyle/>
          <a:p>
            <a:pPr marL="0" indent="0">
              <a:buNone/>
            </a:pPr>
            <a:r>
              <a:rPr lang="en-US" sz="1050" b="1" dirty="0">
                <a:solidFill>
                  <a:srgbClr val="1C2B4A"/>
                </a:solidFill>
                <a:latin typeface="Calibri" pitchFamily="34" charset="0"/>
                <a:ea typeface="Calibri" pitchFamily="34" charset="-122"/>
                <a:cs typeface="Calibri" pitchFamily="34" charset="-120"/>
              </a:rPr>
              <a:t>2025 annual jobs revised down</a:t>
            </a:r>
            <a:endParaRPr lang="en-US" sz="1050" dirty="0"/>
          </a:p>
        </p:txBody>
      </p:sp>
      <p:sp>
        <p:nvSpPr>
          <p:cNvPr id="8" name="Text 5"/>
          <p:cNvSpPr/>
          <p:nvPr/>
        </p:nvSpPr>
        <p:spPr>
          <a:xfrm>
            <a:off x="6263640" y="1773936"/>
            <a:ext cx="2560320" cy="301752"/>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Only 181,000 total jobs for all of 2025 — weakest since 2020</a:t>
            </a:r>
            <a:endParaRPr lang="en-US" sz="900" dirty="0"/>
          </a:p>
        </p:txBody>
      </p:sp>
      <p:sp>
        <p:nvSpPr>
          <p:cNvPr id="9" name="Shape 6"/>
          <p:cNvSpPr/>
          <p:nvPr/>
        </p:nvSpPr>
        <p:spPr>
          <a:xfrm>
            <a:off x="6172200" y="2212848"/>
            <a:ext cx="2743200" cy="749808"/>
          </a:xfrm>
          <a:prstGeom prst="rect">
            <a:avLst/>
          </a:prstGeom>
          <a:solidFill>
            <a:srgbClr val="F5F5F5"/>
          </a:solidFill>
          <a:ln/>
        </p:spPr>
        <p:txBody>
          <a:bodyPr/>
          <a:lstStyle/>
          <a:p>
            <a:endParaRPr lang="en-US"/>
          </a:p>
        </p:txBody>
      </p:sp>
      <p:sp>
        <p:nvSpPr>
          <p:cNvPr id="10" name="Text 7"/>
          <p:cNvSpPr/>
          <p:nvPr/>
        </p:nvSpPr>
        <p:spPr>
          <a:xfrm>
            <a:off x="6263640" y="2258568"/>
            <a:ext cx="868680" cy="320040"/>
          </a:xfrm>
          <a:prstGeom prst="rect">
            <a:avLst/>
          </a:prstGeom>
          <a:noFill/>
          <a:ln/>
        </p:spPr>
        <p:txBody>
          <a:bodyPr wrap="square" rtlCol="0" anchor="ctr"/>
          <a:lstStyle/>
          <a:p>
            <a:pPr marL="0" indent="0">
              <a:buNone/>
            </a:pPr>
            <a:r>
              <a:rPr lang="en-US" sz="1800" b="1" dirty="0">
                <a:solidFill>
                  <a:srgbClr val="D0291A"/>
                </a:solidFill>
                <a:latin typeface="Calibri" pitchFamily="34" charset="0"/>
                <a:ea typeface="Calibri" pitchFamily="34" charset="-122"/>
                <a:cs typeface="Calibri" pitchFamily="34" charset="-120"/>
              </a:rPr>
              <a:t>2×</a:t>
            </a:r>
            <a:endParaRPr lang="en-US" sz="1800" dirty="0"/>
          </a:p>
        </p:txBody>
      </p:sp>
      <p:sp>
        <p:nvSpPr>
          <p:cNvPr id="11" name="Text 8"/>
          <p:cNvSpPr/>
          <p:nvPr/>
        </p:nvSpPr>
        <p:spPr>
          <a:xfrm>
            <a:off x="7178040" y="2286000"/>
            <a:ext cx="1645920" cy="274320"/>
          </a:xfrm>
          <a:prstGeom prst="rect">
            <a:avLst/>
          </a:prstGeom>
          <a:noFill/>
          <a:ln/>
        </p:spPr>
        <p:txBody>
          <a:bodyPr wrap="square" rtlCol="0" anchor="ctr"/>
          <a:lstStyle/>
          <a:p>
            <a:pPr marL="0" indent="0">
              <a:buNone/>
            </a:pPr>
            <a:r>
              <a:rPr lang="en-US" sz="1050" b="1" dirty="0">
                <a:solidFill>
                  <a:srgbClr val="1C2B4A"/>
                </a:solidFill>
                <a:latin typeface="Calibri" pitchFamily="34" charset="0"/>
                <a:ea typeface="Calibri" pitchFamily="34" charset="-122"/>
                <a:cs typeface="Calibri" pitchFamily="34" charset="-120"/>
              </a:rPr>
              <a:t>Surveys diverge more than ever</a:t>
            </a:r>
            <a:endParaRPr lang="en-US" sz="1050" dirty="0"/>
          </a:p>
        </p:txBody>
      </p:sp>
      <p:sp>
        <p:nvSpPr>
          <p:cNvPr id="12" name="Text 9"/>
          <p:cNvSpPr/>
          <p:nvPr/>
        </p:nvSpPr>
        <p:spPr>
          <a:xfrm>
            <a:off x="6263640" y="2615184"/>
            <a:ext cx="2560320" cy="301752"/>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Establishment vs household survey gap wider than historical norms</a:t>
            </a:r>
            <a:endParaRPr lang="en-US" sz="900" dirty="0"/>
          </a:p>
        </p:txBody>
      </p:sp>
      <p:sp>
        <p:nvSpPr>
          <p:cNvPr id="13" name="Shape 10"/>
          <p:cNvSpPr/>
          <p:nvPr/>
        </p:nvSpPr>
        <p:spPr>
          <a:xfrm>
            <a:off x="6172200" y="3054096"/>
            <a:ext cx="2743200" cy="749808"/>
          </a:xfrm>
          <a:prstGeom prst="rect">
            <a:avLst/>
          </a:prstGeom>
          <a:solidFill>
            <a:srgbClr val="FFFFFF"/>
          </a:solidFill>
          <a:ln/>
        </p:spPr>
        <p:txBody>
          <a:bodyPr/>
          <a:lstStyle/>
          <a:p>
            <a:endParaRPr lang="en-US"/>
          </a:p>
        </p:txBody>
      </p:sp>
      <p:sp>
        <p:nvSpPr>
          <p:cNvPr id="14" name="Text 11"/>
          <p:cNvSpPr/>
          <p:nvPr/>
        </p:nvSpPr>
        <p:spPr>
          <a:xfrm>
            <a:off x="6263640" y="3099816"/>
            <a:ext cx="868680" cy="320040"/>
          </a:xfrm>
          <a:prstGeom prst="rect">
            <a:avLst/>
          </a:prstGeom>
          <a:noFill/>
          <a:ln/>
        </p:spPr>
        <p:txBody>
          <a:bodyPr wrap="square" rtlCol="0" anchor="ctr"/>
          <a:lstStyle/>
          <a:p>
            <a:pPr marL="0" indent="0">
              <a:buNone/>
            </a:pPr>
            <a:r>
              <a:rPr lang="en-US" sz="1200" b="1" dirty="0">
                <a:solidFill>
                  <a:srgbClr val="D0291A"/>
                </a:solidFill>
                <a:latin typeface="Calibri" pitchFamily="34" charset="0"/>
                <a:ea typeface="Calibri" pitchFamily="34" charset="-122"/>
                <a:cs typeface="Calibri" pitchFamily="34" charset="-120"/>
              </a:rPr>
              <a:t>Aug 2025</a:t>
            </a:r>
            <a:endParaRPr lang="en-US" sz="1800" dirty="0"/>
          </a:p>
        </p:txBody>
      </p:sp>
      <p:sp>
        <p:nvSpPr>
          <p:cNvPr id="15" name="Text 12"/>
          <p:cNvSpPr/>
          <p:nvPr/>
        </p:nvSpPr>
        <p:spPr>
          <a:xfrm>
            <a:off x="7178040" y="3127248"/>
            <a:ext cx="1645920" cy="274320"/>
          </a:xfrm>
          <a:prstGeom prst="rect">
            <a:avLst/>
          </a:prstGeom>
          <a:noFill/>
          <a:ln/>
        </p:spPr>
        <p:txBody>
          <a:bodyPr wrap="square" rtlCol="0" anchor="ctr"/>
          <a:lstStyle/>
          <a:p>
            <a:pPr marL="0" indent="0">
              <a:buNone/>
            </a:pPr>
            <a:r>
              <a:rPr lang="en-US" sz="1050" b="1" dirty="0">
                <a:solidFill>
                  <a:srgbClr val="1C2B4A"/>
                </a:solidFill>
                <a:latin typeface="Calibri" pitchFamily="34" charset="0"/>
                <a:ea typeface="Calibri" pitchFamily="34" charset="-122"/>
                <a:cs typeface="Calibri" pitchFamily="34" charset="-120"/>
              </a:rPr>
              <a:t>Government shutdown gaps data</a:t>
            </a:r>
            <a:endParaRPr lang="en-US" sz="1050" dirty="0"/>
          </a:p>
        </p:txBody>
      </p:sp>
      <p:sp>
        <p:nvSpPr>
          <p:cNvPr id="16" name="Text 13"/>
          <p:cNvSpPr/>
          <p:nvPr/>
        </p:nvSpPr>
        <p:spPr>
          <a:xfrm>
            <a:off x="6263640" y="3456432"/>
            <a:ext cx="2560320" cy="301752"/>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October data missed entirely. Revisions delayed. Trust eroded.</a:t>
            </a:r>
            <a:endParaRPr lang="en-US" sz="900" dirty="0"/>
          </a:p>
        </p:txBody>
      </p:sp>
      <p:sp>
        <p:nvSpPr>
          <p:cNvPr id="17" name="Shape 14"/>
          <p:cNvSpPr/>
          <p:nvPr/>
        </p:nvSpPr>
        <p:spPr>
          <a:xfrm>
            <a:off x="6172200" y="3895344"/>
            <a:ext cx="2743200" cy="749808"/>
          </a:xfrm>
          <a:prstGeom prst="rect">
            <a:avLst/>
          </a:prstGeom>
          <a:solidFill>
            <a:srgbClr val="F5F5F5"/>
          </a:solidFill>
          <a:ln/>
        </p:spPr>
        <p:txBody>
          <a:bodyPr/>
          <a:lstStyle/>
          <a:p>
            <a:endParaRPr lang="en-US"/>
          </a:p>
        </p:txBody>
      </p:sp>
      <p:sp>
        <p:nvSpPr>
          <p:cNvPr id="18" name="Text 15"/>
          <p:cNvSpPr/>
          <p:nvPr/>
        </p:nvSpPr>
        <p:spPr>
          <a:xfrm>
            <a:off x="6263640" y="3941064"/>
            <a:ext cx="868680" cy="320040"/>
          </a:xfrm>
          <a:prstGeom prst="rect">
            <a:avLst/>
          </a:prstGeom>
          <a:noFill/>
          <a:ln/>
        </p:spPr>
        <p:txBody>
          <a:bodyPr wrap="square" rtlCol="0" anchor="ctr"/>
          <a:lstStyle/>
          <a:p>
            <a:pPr marL="0" indent="0">
              <a:buNone/>
            </a:pPr>
            <a:r>
              <a:rPr lang="en-US" sz="1800" b="1" dirty="0">
                <a:solidFill>
                  <a:srgbClr val="D0291A"/>
                </a:solidFill>
                <a:latin typeface="Calibri" pitchFamily="34" charset="0"/>
                <a:ea typeface="Calibri" pitchFamily="34" charset="-122"/>
                <a:cs typeface="Calibri" pitchFamily="34" charset="-120"/>
              </a:rPr>
              <a:t>~650K</a:t>
            </a:r>
            <a:endParaRPr lang="en-US" sz="1800" dirty="0"/>
          </a:p>
        </p:txBody>
      </p:sp>
      <p:sp>
        <p:nvSpPr>
          <p:cNvPr id="19" name="Text 16"/>
          <p:cNvSpPr/>
          <p:nvPr/>
        </p:nvSpPr>
        <p:spPr>
          <a:xfrm>
            <a:off x="7178040" y="3968496"/>
            <a:ext cx="1645920" cy="274320"/>
          </a:xfrm>
          <a:prstGeom prst="rect">
            <a:avLst/>
          </a:prstGeom>
          <a:noFill/>
          <a:ln/>
        </p:spPr>
        <p:txBody>
          <a:bodyPr wrap="square" rtlCol="0" anchor="ctr"/>
          <a:lstStyle/>
          <a:p>
            <a:pPr marL="0" indent="0">
              <a:buNone/>
            </a:pPr>
            <a:r>
              <a:rPr lang="en-US" sz="1050" b="1" dirty="0">
                <a:solidFill>
                  <a:srgbClr val="1C2B4A"/>
                </a:solidFill>
                <a:latin typeface="Calibri" pitchFamily="34" charset="0"/>
                <a:ea typeface="Calibri" pitchFamily="34" charset="-122"/>
                <a:cs typeface="Calibri" pitchFamily="34" charset="-120"/>
              </a:rPr>
              <a:t>Household survey margin of error</a:t>
            </a:r>
            <a:endParaRPr lang="en-US" sz="1050" dirty="0"/>
          </a:p>
        </p:txBody>
      </p:sp>
      <p:sp>
        <p:nvSpPr>
          <p:cNvPr id="20" name="Text 17"/>
          <p:cNvSpPr/>
          <p:nvPr/>
        </p:nvSpPr>
        <p:spPr>
          <a:xfrm>
            <a:off x="6263640" y="4297680"/>
            <a:ext cx="2560320" cy="301752"/>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Any change under 650,000 is statistically indistinguishable from noise</a:t>
            </a:r>
            <a:endParaRPr lang="en-US" sz="900" dirty="0"/>
          </a:p>
        </p:txBody>
      </p:sp>
      <p:sp>
        <p:nvSpPr>
          <p:cNvPr id="21" name="Text 18"/>
          <p:cNvSpPr/>
          <p:nvPr/>
        </p:nvSpPr>
        <p:spPr>
          <a:xfrm>
            <a:off x="365760" y="4800600"/>
            <a:ext cx="7315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Source: Indeed Hiring Lab Jan 2026; BLS; PIIE</a:t>
            </a:r>
            <a:endParaRPr lang="en-US" sz="900" dirty="0"/>
          </a:p>
        </p:txBody>
      </p:sp>
      <p:sp>
        <p:nvSpPr>
          <p:cNvPr id="22" name="Text 19"/>
          <p:cNvSpPr/>
          <p:nvPr/>
        </p:nvSpPr>
        <p:spPr>
          <a:xfrm>
            <a:off x="8595360" y="4800600"/>
            <a:ext cx="457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C1C1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0291A"/>
          </a:solidFill>
          <a:ln w="12700">
            <a:solidFill>
              <a:srgbClr val="D0291A"/>
            </a:solidFill>
            <a:prstDash val="solid"/>
          </a:ln>
        </p:spPr>
        <p:txBody>
          <a:bodyPr/>
          <a:lstStyle/>
          <a:p>
            <a:endParaRPr lang="en-US"/>
          </a:p>
        </p:txBody>
      </p:sp>
      <p:sp>
        <p:nvSpPr>
          <p:cNvPr id="3" name="Text 1"/>
          <p:cNvSpPr/>
          <p:nvPr/>
        </p:nvSpPr>
        <p:spPr>
          <a:xfrm>
            <a:off x="457200" y="1188720"/>
            <a:ext cx="8229600" cy="1828800"/>
          </a:xfrm>
          <a:prstGeom prst="rect">
            <a:avLst/>
          </a:prstGeom>
          <a:noFill/>
          <a:ln/>
        </p:spPr>
        <p:txBody>
          <a:bodyPr wrap="square"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So what is actually</a:t>
            </a:r>
            <a:endParaRPr lang="en-US" sz="4600" dirty="0"/>
          </a:p>
          <a:p>
            <a:pPr marL="0" indent="0">
              <a:buNone/>
            </a:pPr>
            <a:r>
              <a:rPr lang="en-US" sz="4600" b="1" dirty="0">
                <a:solidFill>
                  <a:srgbClr val="FFFFFF"/>
                </a:solidFill>
                <a:latin typeface="Calibri" pitchFamily="34" charset="0"/>
                <a:ea typeface="Calibri" pitchFamily="34" charset="-122"/>
                <a:cs typeface="Calibri" pitchFamily="34" charset="-120"/>
              </a:rPr>
              <a:t>happening?</a:t>
            </a:r>
            <a:endParaRPr lang="en-US" sz="4600" dirty="0"/>
          </a:p>
        </p:txBody>
      </p:sp>
      <p:sp>
        <p:nvSpPr>
          <p:cNvPr id="4" name="Text 2"/>
          <p:cNvSpPr/>
          <p:nvPr/>
        </p:nvSpPr>
        <p:spPr>
          <a:xfrm>
            <a:off x="457200" y="3108960"/>
            <a:ext cx="7315200" cy="548640"/>
          </a:xfrm>
          <a:prstGeom prst="rect">
            <a:avLst/>
          </a:prstGeom>
          <a:noFill/>
          <a:ln/>
        </p:spPr>
        <p:txBody>
          <a:bodyPr wrap="square" rtlCol="0" anchor="ctr"/>
          <a:lstStyle/>
          <a:p>
            <a:pPr marL="0" indent="0">
              <a:buNone/>
            </a:pPr>
            <a:r>
              <a:rPr lang="en-US" sz="2000" dirty="0">
                <a:solidFill>
                  <a:srgbClr val="AAAAAA"/>
                </a:solidFill>
                <a:latin typeface="Calibri" pitchFamily="34" charset="0"/>
                <a:ea typeface="Calibri" pitchFamily="34" charset="-122"/>
                <a:cs typeface="Calibri" pitchFamily="34" charset="-120"/>
              </a:rPr>
              <a:t>The labor market isn't broken — it's changing shape</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3"/>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rgbClr val="1C1C1E"/>
                </a:solidFill>
                <a:latin typeface="Calibri" pitchFamily="34" charset="0"/>
                <a:ea typeface="Calibri" pitchFamily="34" charset="-122"/>
                <a:cs typeface="Calibri" pitchFamily="34" charset="-120"/>
              </a:rPr>
              <a:t>Three forces reshaping the US labor market</a:t>
            </a:r>
            <a:endParaRPr lang="en-US" sz="3200" dirty="0"/>
          </a:p>
        </p:txBody>
      </p:sp>
      <p:sp>
        <p:nvSpPr>
          <p:cNvPr id="3" name="Text 1"/>
          <p:cNvSpPr/>
          <p:nvPr/>
        </p:nvSpPr>
        <p:spPr>
          <a:xfrm>
            <a:off x="457200" y="914400"/>
            <a:ext cx="8229600" cy="411480"/>
          </a:xfrm>
          <a:prstGeom prst="rect">
            <a:avLst/>
          </a:prstGeom>
          <a:noFill/>
          <a:ln/>
        </p:spPr>
        <p:txBody>
          <a:bodyPr wrap="square" lIns="0" tIns="0" rIns="0" bIns="0" rtlCol="0" anchor="ctr"/>
          <a:lstStyle/>
          <a:p>
            <a:pPr marL="0" indent="0">
              <a:buNone/>
            </a:pPr>
            <a:r>
              <a:rPr lang="en-US" sz="1500" dirty="0">
                <a:solidFill>
                  <a:srgbClr val="64748B"/>
                </a:solidFill>
                <a:latin typeface="Calibri" pitchFamily="34" charset="0"/>
                <a:ea typeface="Calibri" pitchFamily="34" charset="-122"/>
                <a:cs typeface="Calibri" pitchFamily="34" charset="-120"/>
              </a:rPr>
              <a:t>The paradox has structural explanations</a:t>
            </a:r>
            <a:endParaRPr lang="en-US" sz="1500" dirty="0"/>
          </a:p>
        </p:txBody>
      </p:sp>
      <p:sp>
        <p:nvSpPr>
          <p:cNvPr id="4" name="Shape 2"/>
          <p:cNvSpPr/>
          <p:nvPr/>
        </p:nvSpPr>
        <p:spPr>
          <a:xfrm>
            <a:off x="365760" y="1325880"/>
            <a:ext cx="8412480" cy="1097280"/>
          </a:xfrm>
          <a:prstGeom prst="rect">
            <a:avLst/>
          </a:prstGeom>
          <a:solidFill>
            <a:srgbClr val="FFFFFF"/>
          </a:solidFill>
          <a:ln/>
          <a:effectLst>
            <a:outerShdw blurRad="76200" dist="12700" dir="8100000" algn="bl" rotWithShape="0">
              <a:srgbClr val="000000">
                <a:alpha val="7000"/>
              </a:srgbClr>
            </a:outerShdw>
          </a:effectLst>
        </p:spPr>
        <p:txBody>
          <a:bodyPr/>
          <a:lstStyle/>
          <a:p>
            <a:endParaRPr lang="en-US"/>
          </a:p>
        </p:txBody>
      </p:sp>
      <p:sp>
        <p:nvSpPr>
          <p:cNvPr id="5" name="Text 3"/>
          <p:cNvSpPr/>
          <p:nvPr/>
        </p:nvSpPr>
        <p:spPr>
          <a:xfrm>
            <a:off x="475488" y="1435608"/>
            <a:ext cx="594360" cy="822960"/>
          </a:xfrm>
          <a:prstGeom prst="rect">
            <a:avLst/>
          </a:prstGeom>
          <a:noFill/>
          <a:ln/>
        </p:spPr>
        <p:txBody>
          <a:bodyPr wrap="square" rtlCol="0" anchor="ctr"/>
          <a:lstStyle/>
          <a:p>
            <a:pPr marL="0" indent="0">
              <a:buNone/>
            </a:pPr>
            <a:r>
              <a:rPr lang="en-US" sz="3000" b="1" dirty="0">
                <a:solidFill>
                  <a:srgbClr val="1C2B4A"/>
                </a:solidFill>
                <a:latin typeface="Calibri" pitchFamily="34" charset="0"/>
                <a:ea typeface="Calibri" pitchFamily="34" charset="-122"/>
                <a:cs typeface="Calibri" pitchFamily="34" charset="-120"/>
              </a:rPr>
              <a:t>01</a:t>
            </a:r>
            <a:endParaRPr lang="en-US" sz="3000" dirty="0"/>
          </a:p>
        </p:txBody>
      </p:sp>
      <p:sp>
        <p:nvSpPr>
          <p:cNvPr id="6" name="Text 4"/>
          <p:cNvSpPr/>
          <p:nvPr/>
        </p:nvSpPr>
        <p:spPr>
          <a:xfrm>
            <a:off x="1170432" y="1417320"/>
            <a:ext cx="7223760" cy="320040"/>
          </a:xfrm>
          <a:prstGeom prst="rect">
            <a:avLst/>
          </a:prstGeom>
          <a:noFill/>
          <a:ln/>
        </p:spPr>
        <p:txBody>
          <a:bodyPr wrap="square" rtlCol="0" anchor="ctr"/>
          <a:lstStyle/>
          <a:p>
            <a:pPr marL="0" indent="0">
              <a:buNone/>
            </a:pPr>
            <a:r>
              <a:rPr lang="en-US" sz="1400" b="1" dirty="0">
                <a:solidFill>
                  <a:srgbClr val="1C1C1E"/>
                </a:solidFill>
                <a:latin typeface="Calibri" pitchFamily="34" charset="0"/>
                <a:ea typeface="Calibri" pitchFamily="34" charset="-122"/>
                <a:cs typeface="Calibri" pitchFamily="34" charset="-120"/>
              </a:rPr>
              <a:t>The gig economy is invisible</a:t>
            </a:r>
            <a:endParaRPr lang="en-US" sz="1400" dirty="0"/>
          </a:p>
        </p:txBody>
      </p:sp>
      <p:sp>
        <p:nvSpPr>
          <p:cNvPr id="7" name="Text 5"/>
          <p:cNvSpPr/>
          <p:nvPr/>
        </p:nvSpPr>
        <p:spPr>
          <a:xfrm>
            <a:off x="1170432" y="1746504"/>
            <a:ext cx="7223760" cy="594360"/>
          </a:xfrm>
          <a:prstGeom prst="rect">
            <a:avLst/>
          </a:prstGeom>
          <a:noFill/>
          <a:ln/>
        </p:spPr>
        <p:txBody>
          <a:bodyPr wrap="square" rtlCol="0" anchor="ctr"/>
          <a:lstStyle/>
          <a:p>
            <a:pPr marL="0" indent="0">
              <a:buNone/>
            </a:pPr>
            <a:r>
              <a:rPr lang="en-US" sz="1150" dirty="0">
                <a:solidFill>
                  <a:srgbClr val="36454F"/>
                </a:solidFill>
                <a:latin typeface="Calibri" pitchFamily="34" charset="0"/>
                <a:ea typeface="Calibri" pitchFamily="34" charset="-122"/>
                <a:cs typeface="Calibri" pitchFamily="34" charset="-120"/>
              </a:rPr>
              <a:t>The establishment survey misses freelancers, gig workers, and multi-job holders. As formal employment softens, non-traditional work absorbs the slack — but doesn't show up in headlines.</a:t>
            </a:r>
            <a:endParaRPr lang="en-US" sz="1150" dirty="0"/>
          </a:p>
        </p:txBody>
      </p:sp>
      <p:sp>
        <p:nvSpPr>
          <p:cNvPr id="8" name="Shape 6"/>
          <p:cNvSpPr/>
          <p:nvPr/>
        </p:nvSpPr>
        <p:spPr>
          <a:xfrm>
            <a:off x="365760" y="2560320"/>
            <a:ext cx="8412480" cy="1097280"/>
          </a:xfrm>
          <a:prstGeom prst="rect">
            <a:avLst/>
          </a:prstGeom>
          <a:solidFill>
            <a:srgbClr val="FFFFFF"/>
          </a:solidFill>
          <a:ln/>
          <a:effectLst>
            <a:outerShdw blurRad="76200" dist="12700" dir="8100000" algn="bl" rotWithShape="0">
              <a:srgbClr val="000000">
                <a:alpha val="7000"/>
              </a:srgbClr>
            </a:outerShdw>
          </a:effectLst>
        </p:spPr>
        <p:txBody>
          <a:bodyPr/>
          <a:lstStyle/>
          <a:p>
            <a:endParaRPr lang="en-US"/>
          </a:p>
        </p:txBody>
      </p:sp>
      <p:sp>
        <p:nvSpPr>
          <p:cNvPr id="9" name="Text 7"/>
          <p:cNvSpPr/>
          <p:nvPr/>
        </p:nvSpPr>
        <p:spPr>
          <a:xfrm>
            <a:off x="475488" y="2670048"/>
            <a:ext cx="594360" cy="822960"/>
          </a:xfrm>
          <a:prstGeom prst="rect">
            <a:avLst/>
          </a:prstGeom>
          <a:noFill/>
          <a:ln/>
        </p:spPr>
        <p:txBody>
          <a:bodyPr wrap="square" rtlCol="0" anchor="ctr"/>
          <a:lstStyle/>
          <a:p>
            <a:pPr marL="0" indent="0">
              <a:buNone/>
            </a:pPr>
            <a:r>
              <a:rPr lang="en-US" sz="3000" b="1" dirty="0">
                <a:solidFill>
                  <a:srgbClr val="D0291A"/>
                </a:solidFill>
                <a:latin typeface="Calibri" pitchFamily="34" charset="0"/>
                <a:ea typeface="Calibri" pitchFamily="34" charset="-122"/>
                <a:cs typeface="Calibri" pitchFamily="34" charset="-120"/>
              </a:rPr>
              <a:t>02</a:t>
            </a:r>
            <a:endParaRPr lang="en-US" sz="3000" dirty="0"/>
          </a:p>
        </p:txBody>
      </p:sp>
      <p:sp>
        <p:nvSpPr>
          <p:cNvPr id="10" name="Text 8"/>
          <p:cNvSpPr/>
          <p:nvPr/>
        </p:nvSpPr>
        <p:spPr>
          <a:xfrm>
            <a:off x="1170432" y="2651760"/>
            <a:ext cx="7223760" cy="320040"/>
          </a:xfrm>
          <a:prstGeom prst="rect">
            <a:avLst/>
          </a:prstGeom>
          <a:noFill/>
          <a:ln/>
        </p:spPr>
        <p:txBody>
          <a:bodyPr wrap="square" rtlCol="0" anchor="ctr"/>
          <a:lstStyle/>
          <a:p>
            <a:pPr marL="0" indent="0">
              <a:buNone/>
            </a:pPr>
            <a:r>
              <a:rPr lang="en-US" sz="1400" b="1" dirty="0">
                <a:solidFill>
                  <a:srgbClr val="1C1C1E"/>
                </a:solidFill>
                <a:latin typeface="Calibri" pitchFamily="34" charset="0"/>
                <a:ea typeface="Calibri" pitchFamily="34" charset="-122"/>
                <a:cs typeface="Calibri" pitchFamily="34" charset="-120"/>
              </a:rPr>
              <a:t>The labor force is contracting</a:t>
            </a:r>
            <a:endParaRPr lang="en-US" sz="1400" dirty="0"/>
          </a:p>
        </p:txBody>
      </p:sp>
      <p:sp>
        <p:nvSpPr>
          <p:cNvPr id="11" name="Text 9"/>
          <p:cNvSpPr/>
          <p:nvPr/>
        </p:nvSpPr>
        <p:spPr>
          <a:xfrm>
            <a:off x="1170432" y="2980944"/>
            <a:ext cx="7223760" cy="594360"/>
          </a:xfrm>
          <a:prstGeom prst="rect">
            <a:avLst/>
          </a:prstGeom>
          <a:noFill/>
          <a:ln/>
        </p:spPr>
        <p:txBody>
          <a:bodyPr wrap="square" rtlCol="0" anchor="ctr"/>
          <a:lstStyle/>
          <a:p>
            <a:pPr marL="0" indent="0">
              <a:buNone/>
            </a:pPr>
            <a:r>
              <a:rPr lang="en-US" sz="1150" dirty="0">
                <a:solidFill>
                  <a:srgbClr val="36454F"/>
                </a:solidFill>
                <a:latin typeface="Calibri" pitchFamily="34" charset="0"/>
                <a:ea typeface="Calibri" pitchFamily="34" charset="-122"/>
                <a:cs typeface="Calibri" pitchFamily="34" charset="-120"/>
              </a:rPr>
              <a:t>Aging boomers retiring, discouraged workers dropping out, and immigration policy changes are all shrinking the denominator. Unemployment can fall even when jobs are scarce — if fewer people are looking.</a:t>
            </a:r>
            <a:endParaRPr lang="en-US" sz="1150" dirty="0"/>
          </a:p>
        </p:txBody>
      </p:sp>
      <p:sp>
        <p:nvSpPr>
          <p:cNvPr id="12" name="Shape 10"/>
          <p:cNvSpPr/>
          <p:nvPr/>
        </p:nvSpPr>
        <p:spPr>
          <a:xfrm>
            <a:off x="365760" y="3794760"/>
            <a:ext cx="8412480" cy="1097280"/>
          </a:xfrm>
          <a:prstGeom prst="rect">
            <a:avLst/>
          </a:prstGeom>
          <a:solidFill>
            <a:srgbClr val="FFFFFF"/>
          </a:solidFill>
          <a:ln/>
          <a:effectLst>
            <a:outerShdw blurRad="76200" dist="12700" dir="8100000" algn="bl" rotWithShape="0">
              <a:srgbClr val="000000">
                <a:alpha val="7000"/>
              </a:srgbClr>
            </a:outerShdw>
          </a:effectLst>
        </p:spPr>
        <p:txBody>
          <a:bodyPr/>
          <a:lstStyle/>
          <a:p>
            <a:endParaRPr lang="en-US"/>
          </a:p>
        </p:txBody>
      </p:sp>
      <p:sp>
        <p:nvSpPr>
          <p:cNvPr id="13" name="Text 11"/>
          <p:cNvSpPr/>
          <p:nvPr/>
        </p:nvSpPr>
        <p:spPr>
          <a:xfrm>
            <a:off x="475488" y="3904488"/>
            <a:ext cx="594360" cy="822960"/>
          </a:xfrm>
          <a:prstGeom prst="rect">
            <a:avLst/>
          </a:prstGeom>
          <a:noFill/>
          <a:ln/>
        </p:spPr>
        <p:txBody>
          <a:bodyPr wrap="square" rtlCol="0" anchor="ctr"/>
          <a:lstStyle/>
          <a:p>
            <a:pPr marL="0" indent="0">
              <a:buNone/>
            </a:pPr>
            <a:r>
              <a:rPr lang="en-US" sz="3000" b="1" dirty="0">
                <a:solidFill>
                  <a:srgbClr val="1C2B4A"/>
                </a:solidFill>
                <a:latin typeface="Calibri" pitchFamily="34" charset="0"/>
                <a:ea typeface="Calibri" pitchFamily="34" charset="-122"/>
                <a:cs typeface="Calibri" pitchFamily="34" charset="-120"/>
              </a:rPr>
              <a:t>03</a:t>
            </a:r>
            <a:endParaRPr lang="en-US" sz="3000" dirty="0"/>
          </a:p>
        </p:txBody>
      </p:sp>
      <p:sp>
        <p:nvSpPr>
          <p:cNvPr id="14" name="Text 12"/>
          <p:cNvSpPr/>
          <p:nvPr/>
        </p:nvSpPr>
        <p:spPr>
          <a:xfrm>
            <a:off x="1170432" y="3886200"/>
            <a:ext cx="7223760" cy="320040"/>
          </a:xfrm>
          <a:prstGeom prst="rect">
            <a:avLst/>
          </a:prstGeom>
          <a:noFill/>
          <a:ln/>
        </p:spPr>
        <p:txBody>
          <a:bodyPr wrap="square" rtlCol="0" anchor="ctr"/>
          <a:lstStyle/>
          <a:p>
            <a:pPr marL="0" indent="0">
              <a:buNone/>
            </a:pPr>
            <a:r>
              <a:rPr lang="en-US" sz="1400" b="1" dirty="0">
                <a:solidFill>
                  <a:srgbClr val="1C1C1E"/>
                </a:solidFill>
                <a:latin typeface="Calibri" pitchFamily="34" charset="0"/>
                <a:ea typeface="Calibri" pitchFamily="34" charset="-122"/>
                <a:cs typeface="Calibri" pitchFamily="34" charset="-120"/>
              </a:rPr>
              <a:t>AI is changing the job mix</a:t>
            </a:r>
            <a:endParaRPr lang="en-US" sz="1400" dirty="0"/>
          </a:p>
        </p:txBody>
      </p:sp>
      <p:sp>
        <p:nvSpPr>
          <p:cNvPr id="15" name="Text 13"/>
          <p:cNvSpPr/>
          <p:nvPr/>
        </p:nvSpPr>
        <p:spPr>
          <a:xfrm>
            <a:off x="1170432" y="4215384"/>
            <a:ext cx="7223760" cy="594360"/>
          </a:xfrm>
          <a:prstGeom prst="rect">
            <a:avLst/>
          </a:prstGeom>
          <a:noFill/>
          <a:ln/>
        </p:spPr>
        <p:txBody>
          <a:bodyPr wrap="square" rtlCol="0" anchor="ctr"/>
          <a:lstStyle/>
          <a:p>
            <a:pPr marL="0" indent="0">
              <a:buNone/>
            </a:pPr>
            <a:r>
              <a:rPr lang="en-US" sz="1150" dirty="0">
                <a:solidFill>
                  <a:srgbClr val="36454F"/>
                </a:solidFill>
                <a:latin typeface="Calibri" pitchFamily="34" charset="0"/>
                <a:ea typeface="Calibri" pitchFamily="34" charset="-122"/>
                <a:cs typeface="Calibri" pitchFamily="34" charset="-120"/>
              </a:rPr>
              <a:t>AI is not yet mass-eliminating jobs — but it is changing which jobs exist. Coding, routine cognitive work, and mid-skill white-collar roles face the most pressure. Healthcare and physical trades are insulated.</a:t>
            </a:r>
            <a:endParaRPr lang="en-US" sz="1150" dirty="0"/>
          </a:p>
        </p:txBody>
      </p:sp>
      <p:sp>
        <p:nvSpPr>
          <p:cNvPr id="16" name="Text 14"/>
          <p:cNvSpPr/>
          <p:nvPr/>
        </p:nvSpPr>
        <p:spPr>
          <a:xfrm>
            <a:off x="365760" y="4800600"/>
            <a:ext cx="7315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Source: BLS, Indeed Hiring Lab, Challenger</a:t>
            </a:r>
            <a:endParaRPr lang="en-US" sz="900" dirty="0"/>
          </a:p>
        </p:txBody>
      </p:sp>
      <p:sp>
        <p:nvSpPr>
          <p:cNvPr id="17" name="Text 15"/>
          <p:cNvSpPr/>
          <p:nvPr/>
        </p:nvSpPr>
        <p:spPr>
          <a:xfrm>
            <a:off x="8595360" y="4800600"/>
            <a:ext cx="457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3"/>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rgbClr val="1C1C1E"/>
                </a:solidFill>
                <a:latin typeface="Calibri" pitchFamily="34" charset="0"/>
                <a:ea typeface="Calibri" pitchFamily="34" charset="-122"/>
                <a:cs typeface="Calibri" pitchFamily="34" charset="-120"/>
              </a:rPr>
              <a:t>Not all sectors are equal — the divergence is stark</a:t>
            </a:r>
            <a:endParaRPr lang="en-US" sz="3200" dirty="0"/>
          </a:p>
        </p:txBody>
      </p:sp>
      <p:sp>
        <p:nvSpPr>
          <p:cNvPr id="3" name="Text 1"/>
          <p:cNvSpPr/>
          <p:nvPr/>
        </p:nvSpPr>
        <p:spPr>
          <a:xfrm>
            <a:off x="457200" y="914400"/>
            <a:ext cx="8229600" cy="411480"/>
          </a:xfrm>
          <a:prstGeom prst="rect">
            <a:avLst/>
          </a:prstGeom>
          <a:noFill/>
          <a:ln/>
        </p:spPr>
        <p:txBody>
          <a:bodyPr wrap="square" lIns="0" tIns="0" rIns="0" bIns="0" rtlCol="0" anchor="ctr"/>
          <a:lstStyle/>
          <a:p>
            <a:pPr marL="0" indent="0">
              <a:buNone/>
            </a:pPr>
            <a:r>
              <a:rPr lang="en-US" sz="1500" dirty="0">
                <a:solidFill>
                  <a:srgbClr val="64748B"/>
                </a:solidFill>
                <a:latin typeface="Calibri" pitchFamily="34" charset="0"/>
                <a:ea typeface="Calibri" pitchFamily="34" charset="-122"/>
                <a:cs typeface="Calibri" pitchFamily="34" charset="-120"/>
              </a:rPr>
              <a:t>Healthcare grows; tech, government, and finance contract</a:t>
            </a:r>
            <a:endParaRPr lang="en-US" sz="1500" dirty="0"/>
          </a:p>
        </p:txBody>
      </p:sp>
      <p:graphicFrame>
        <p:nvGraphicFramePr>
          <p:cNvPr id="4" name="Chart 0"/>
          <p:cNvGraphicFramePr/>
          <p:nvPr/>
        </p:nvGraphicFramePr>
        <p:xfrm>
          <a:off x="365760" y="1325880"/>
          <a:ext cx="841248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365760" y="4800600"/>
            <a:ext cx="731520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Source: BLS Employment Situation, March 2026</a:t>
            </a:r>
            <a:endParaRPr lang="en-US" sz="900" dirty="0"/>
          </a:p>
        </p:txBody>
      </p:sp>
      <p:sp>
        <p:nvSpPr>
          <p:cNvPr id="6" name="Text 3"/>
          <p:cNvSpPr/>
          <p:nvPr/>
        </p:nvSpPr>
        <p:spPr>
          <a:xfrm>
            <a:off x="8595360" y="4800600"/>
            <a:ext cx="457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3"/>
        </a:solidFill>
        <a:effectLst/>
      </p:bgPr>
    </p:bg>
    <p:spTree>
      <p:nvGrpSpPr>
        <p:cNvPr id="1" name=""/>
        <p:cNvGrpSpPr/>
        <p:nvPr/>
      </p:nvGrpSpPr>
      <p:grpSpPr>
        <a:xfrm>
          <a:off x="0" y="0"/>
          <a:ext cx="0" cy="0"/>
          <a:chOff x="0" y="0"/>
          <a:chExt cx="0" cy="0"/>
        </a:xfrm>
      </p:grpSpPr>
      <p:sp>
        <p:nvSpPr>
          <p:cNvPr id="2" name="Text 0"/>
          <p:cNvSpPr/>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rgbClr val="1C1C1E"/>
                </a:solidFill>
                <a:latin typeface="Calibri" pitchFamily="34" charset="0"/>
                <a:ea typeface="Calibri" pitchFamily="34" charset="-122"/>
                <a:cs typeface="Calibri" pitchFamily="34" charset="-120"/>
              </a:rPr>
              <a:t>The questions that matter more than the data</a:t>
            </a:r>
            <a:endParaRPr lang="en-US" sz="3200" dirty="0"/>
          </a:p>
        </p:txBody>
      </p:sp>
      <p:sp>
        <p:nvSpPr>
          <p:cNvPr id="3" name="Text 1"/>
          <p:cNvSpPr/>
          <p:nvPr/>
        </p:nvSpPr>
        <p:spPr>
          <a:xfrm>
            <a:off x="457200" y="914400"/>
            <a:ext cx="8229600" cy="411480"/>
          </a:xfrm>
          <a:prstGeom prst="rect">
            <a:avLst/>
          </a:prstGeom>
          <a:noFill/>
          <a:ln/>
        </p:spPr>
        <p:txBody>
          <a:bodyPr wrap="square" lIns="0" tIns="0" rIns="0" bIns="0" rtlCol="0" anchor="ctr"/>
          <a:lstStyle/>
          <a:p>
            <a:pPr marL="0" indent="0">
              <a:buNone/>
            </a:pPr>
            <a:r>
              <a:rPr lang="en-US" sz="1500" dirty="0">
                <a:solidFill>
                  <a:srgbClr val="64748B"/>
                </a:solidFill>
                <a:latin typeface="Calibri" pitchFamily="34" charset="0"/>
                <a:ea typeface="Calibri" pitchFamily="34" charset="-122"/>
                <a:cs typeface="Calibri" pitchFamily="34" charset="-120"/>
              </a:rPr>
              <a:t>If we can't trust the numbers, we need better questions</a:t>
            </a:r>
            <a:endParaRPr lang="en-US" sz="1500" dirty="0"/>
          </a:p>
        </p:txBody>
      </p:sp>
      <p:sp>
        <p:nvSpPr>
          <p:cNvPr id="4" name="Shape 2"/>
          <p:cNvSpPr/>
          <p:nvPr/>
        </p:nvSpPr>
        <p:spPr>
          <a:xfrm>
            <a:off x="365760" y="1325880"/>
            <a:ext cx="4069080" cy="1627632"/>
          </a:xfrm>
          <a:prstGeom prst="rect">
            <a:avLst/>
          </a:prstGeom>
          <a:solidFill>
            <a:srgbClr val="FFFFFF"/>
          </a:solidFill>
          <a:ln/>
          <a:effectLst>
            <a:outerShdw blurRad="88900" dist="25400" dir="8100000" algn="bl" rotWithShape="0">
              <a:srgbClr val="000000">
                <a:alpha val="9000"/>
              </a:srgbClr>
            </a:outerShdw>
          </a:effectLst>
        </p:spPr>
        <p:txBody>
          <a:bodyPr/>
          <a:lstStyle/>
          <a:p>
            <a:endParaRPr lang="en-US"/>
          </a:p>
        </p:txBody>
      </p:sp>
      <p:sp>
        <p:nvSpPr>
          <p:cNvPr id="5" name="Shape 3"/>
          <p:cNvSpPr/>
          <p:nvPr/>
        </p:nvSpPr>
        <p:spPr>
          <a:xfrm>
            <a:off x="365760" y="1325880"/>
            <a:ext cx="4069080" cy="54864"/>
          </a:xfrm>
          <a:prstGeom prst="rect">
            <a:avLst/>
          </a:prstGeom>
          <a:solidFill>
            <a:srgbClr val="1C2B4A"/>
          </a:solidFill>
          <a:ln/>
        </p:spPr>
        <p:txBody>
          <a:bodyPr/>
          <a:lstStyle/>
          <a:p>
            <a:endParaRPr lang="en-US"/>
          </a:p>
        </p:txBody>
      </p:sp>
      <p:sp>
        <p:nvSpPr>
          <p:cNvPr id="6" name="Text 4"/>
          <p:cNvSpPr/>
          <p:nvPr/>
        </p:nvSpPr>
        <p:spPr>
          <a:xfrm>
            <a:off x="502920" y="1453896"/>
            <a:ext cx="3794760" cy="594360"/>
          </a:xfrm>
          <a:prstGeom prst="rect">
            <a:avLst/>
          </a:prstGeom>
          <a:noFill/>
          <a:ln/>
        </p:spPr>
        <p:txBody>
          <a:bodyPr wrap="square" rtlCol="0" anchor="ctr"/>
          <a:lstStyle/>
          <a:p>
            <a:pPr marL="0" indent="0">
              <a:buNone/>
            </a:pPr>
            <a:r>
              <a:rPr lang="en-US" sz="1200" b="1" dirty="0">
                <a:solidFill>
                  <a:srgbClr val="1C1C1E"/>
                </a:solidFill>
                <a:latin typeface="Calibri" pitchFamily="34" charset="0"/>
                <a:ea typeface="Calibri" pitchFamily="34" charset="-122"/>
                <a:cs typeface="Calibri" pitchFamily="34" charset="-120"/>
              </a:rPr>
              <a:t>What does "employment" mean when work is fragmenting?</a:t>
            </a:r>
            <a:endParaRPr lang="en-US" sz="1200" dirty="0"/>
          </a:p>
        </p:txBody>
      </p:sp>
      <p:sp>
        <p:nvSpPr>
          <p:cNvPr id="7" name="Text 5"/>
          <p:cNvSpPr/>
          <p:nvPr/>
        </p:nvSpPr>
        <p:spPr>
          <a:xfrm>
            <a:off x="502920" y="2075688"/>
            <a:ext cx="3794760" cy="777240"/>
          </a:xfrm>
          <a:prstGeom prst="rect">
            <a:avLst/>
          </a:prstGeom>
          <a:noFill/>
          <a:ln/>
        </p:spPr>
        <p:txBody>
          <a:bodyPr wrap="square" rtlCol="0" anchor="ctr"/>
          <a:lstStyle/>
          <a:p>
            <a:pPr marL="0" indent="0">
              <a:buNone/>
            </a:pPr>
            <a:r>
              <a:rPr lang="en-US" sz="1100" dirty="0">
                <a:solidFill>
                  <a:srgbClr val="36454F"/>
                </a:solidFill>
                <a:latin typeface="Calibri" pitchFamily="34" charset="0"/>
                <a:ea typeface="Calibri" pitchFamily="34" charset="-122"/>
                <a:cs typeface="Calibri" pitchFamily="34" charset="-120"/>
              </a:rPr>
              <a:t>One person, three gigs — are they employed or underemployed? The official definition is from 1947.</a:t>
            </a:r>
            <a:endParaRPr lang="en-US" sz="1100" dirty="0"/>
          </a:p>
        </p:txBody>
      </p:sp>
      <p:sp>
        <p:nvSpPr>
          <p:cNvPr id="8" name="Shape 6"/>
          <p:cNvSpPr/>
          <p:nvPr/>
        </p:nvSpPr>
        <p:spPr>
          <a:xfrm>
            <a:off x="4709160" y="1325880"/>
            <a:ext cx="4069080" cy="1627632"/>
          </a:xfrm>
          <a:prstGeom prst="rect">
            <a:avLst/>
          </a:prstGeom>
          <a:solidFill>
            <a:srgbClr val="FFFFFF"/>
          </a:solidFill>
          <a:ln/>
          <a:effectLst>
            <a:outerShdw blurRad="88900" dist="25400" dir="8100000" algn="bl" rotWithShape="0">
              <a:srgbClr val="000000">
                <a:alpha val="9000"/>
              </a:srgbClr>
            </a:outerShdw>
          </a:effectLst>
        </p:spPr>
        <p:txBody>
          <a:bodyPr/>
          <a:lstStyle/>
          <a:p>
            <a:endParaRPr lang="en-US"/>
          </a:p>
        </p:txBody>
      </p:sp>
      <p:sp>
        <p:nvSpPr>
          <p:cNvPr id="9" name="Shape 7"/>
          <p:cNvSpPr/>
          <p:nvPr/>
        </p:nvSpPr>
        <p:spPr>
          <a:xfrm>
            <a:off x="4709160" y="1325880"/>
            <a:ext cx="4069080" cy="54864"/>
          </a:xfrm>
          <a:prstGeom prst="rect">
            <a:avLst/>
          </a:prstGeom>
          <a:solidFill>
            <a:srgbClr val="1C2B4A"/>
          </a:solidFill>
          <a:ln/>
        </p:spPr>
        <p:txBody>
          <a:bodyPr/>
          <a:lstStyle/>
          <a:p>
            <a:endParaRPr lang="en-US"/>
          </a:p>
        </p:txBody>
      </p:sp>
      <p:sp>
        <p:nvSpPr>
          <p:cNvPr id="10" name="Text 8"/>
          <p:cNvSpPr/>
          <p:nvPr/>
        </p:nvSpPr>
        <p:spPr>
          <a:xfrm>
            <a:off x="4846320" y="1453896"/>
            <a:ext cx="3794760" cy="594360"/>
          </a:xfrm>
          <a:prstGeom prst="rect">
            <a:avLst/>
          </a:prstGeom>
          <a:noFill/>
          <a:ln/>
        </p:spPr>
        <p:txBody>
          <a:bodyPr wrap="square" rtlCol="0" anchor="ctr"/>
          <a:lstStyle/>
          <a:p>
            <a:pPr marL="0" indent="0">
              <a:buNone/>
            </a:pPr>
            <a:r>
              <a:rPr lang="en-US" sz="1200" b="1" dirty="0">
                <a:solidFill>
                  <a:srgbClr val="1C1C1E"/>
                </a:solidFill>
                <a:latin typeface="Calibri" pitchFamily="34" charset="0"/>
                <a:ea typeface="Calibri" pitchFamily="34" charset="-122"/>
                <a:cs typeface="Calibri" pitchFamily="34" charset="-120"/>
              </a:rPr>
              <a:t>Is the low-hire/low-fire equilibrium stable?</a:t>
            </a:r>
            <a:endParaRPr lang="en-US" sz="1200" dirty="0"/>
          </a:p>
        </p:txBody>
      </p:sp>
      <p:sp>
        <p:nvSpPr>
          <p:cNvPr id="11" name="Text 9"/>
          <p:cNvSpPr/>
          <p:nvPr/>
        </p:nvSpPr>
        <p:spPr>
          <a:xfrm>
            <a:off x="4846320" y="2075688"/>
            <a:ext cx="3794760" cy="777240"/>
          </a:xfrm>
          <a:prstGeom prst="rect">
            <a:avLst/>
          </a:prstGeom>
          <a:noFill/>
          <a:ln/>
        </p:spPr>
        <p:txBody>
          <a:bodyPr wrap="square" rtlCol="0" anchor="ctr"/>
          <a:lstStyle/>
          <a:p>
            <a:pPr marL="0" indent="0">
              <a:buNone/>
            </a:pPr>
            <a:r>
              <a:rPr lang="en-US" sz="1100" dirty="0">
                <a:solidFill>
                  <a:srgbClr val="36454F"/>
                </a:solidFill>
                <a:latin typeface="Calibri" pitchFamily="34" charset="0"/>
                <a:ea typeface="Calibri" pitchFamily="34" charset="-122"/>
                <a:cs typeface="Calibri" pitchFamily="34" charset="-120"/>
              </a:rPr>
              <a:t>It can't last forever. Either hiring accelerates, or firing increases. The question is which — and when.</a:t>
            </a:r>
            <a:endParaRPr lang="en-US" sz="1100" dirty="0"/>
          </a:p>
        </p:txBody>
      </p:sp>
      <p:sp>
        <p:nvSpPr>
          <p:cNvPr id="12" name="Shape 10"/>
          <p:cNvSpPr/>
          <p:nvPr/>
        </p:nvSpPr>
        <p:spPr>
          <a:xfrm>
            <a:off x="365760" y="3108960"/>
            <a:ext cx="4069080" cy="1627632"/>
          </a:xfrm>
          <a:prstGeom prst="rect">
            <a:avLst/>
          </a:prstGeom>
          <a:solidFill>
            <a:srgbClr val="FFFFFF"/>
          </a:solidFill>
          <a:ln/>
          <a:effectLst>
            <a:outerShdw blurRad="88900" dist="25400" dir="8100000" algn="bl" rotWithShape="0">
              <a:srgbClr val="000000">
                <a:alpha val="9000"/>
              </a:srgbClr>
            </a:outerShdw>
          </a:effectLst>
        </p:spPr>
        <p:txBody>
          <a:bodyPr/>
          <a:lstStyle/>
          <a:p>
            <a:endParaRPr lang="en-US"/>
          </a:p>
        </p:txBody>
      </p:sp>
      <p:sp>
        <p:nvSpPr>
          <p:cNvPr id="13" name="Shape 11"/>
          <p:cNvSpPr/>
          <p:nvPr/>
        </p:nvSpPr>
        <p:spPr>
          <a:xfrm>
            <a:off x="365760" y="3108960"/>
            <a:ext cx="4069080" cy="54864"/>
          </a:xfrm>
          <a:prstGeom prst="rect">
            <a:avLst/>
          </a:prstGeom>
          <a:solidFill>
            <a:srgbClr val="D0291A"/>
          </a:solidFill>
          <a:ln/>
        </p:spPr>
        <p:txBody>
          <a:bodyPr/>
          <a:lstStyle/>
          <a:p>
            <a:endParaRPr lang="en-US"/>
          </a:p>
        </p:txBody>
      </p:sp>
      <p:sp>
        <p:nvSpPr>
          <p:cNvPr id="14" name="Text 12"/>
          <p:cNvSpPr/>
          <p:nvPr/>
        </p:nvSpPr>
        <p:spPr>
          <a:xfrm>
            <a:off x="502920" y="3236976"/>
            <a:ext cx="3794760" cy="594360"/>
          </a:xfrm>
          <a:prstGeom prst="rect">
            <a:avLst/>
          </a:prstGeom>
          <a:noFill/>
          <a:ln/>
        </p:spPr>
        <p:txBody>
          <a:bodyPr wrap="square" rtlCol="0" anchor="ctr"/>
          <a:lstStyle/>
          <a:p>
            <a:pPr marL="0" indent="0">
              <a:buNone/>
            </a:pPr>
            <a:r>
              <a:rPr lang="en-US" sz="1200" b="1" dirty="0">
                <a:solidFill>
                  <a:srgbClr val="1C1C1E"/>
                </a:solidFill>
                <a:latin typeface="Calibri" pitchFamily="34" charset="0"/>
                <a:ea typeface="Calibri" pitchFamily="34" charset="-122"/>
                <a:cs typeface="Calibri" pitchFamily="34" charset="-120"/>
              </a:rPr>
              <a:t>Will AI kill jobs, or create them?</a:t>
            </a:r>
            <a:endParaRPr lang="en-US" sz="1200" dirty="0"/>
          </a:p>
        </p:txBody>
      </p:sp>
      <p:sp>
        <p:nvSpPr>
          <p:cNvPr id="15" name="Text 13"/>
          <p:cNvSpPr/>
          <p:nvPr/>
        </p:nvSpPr>
        <p:spPr>
          <a:xfrm>
            <a:off x="502920" y="3858768"/>
            <a:ext cx="3794760" cy="777240"/>
          </a:xfrm>
          <a:prstGeom prst="rect">
            <a:avLst/>
          </a:prstGeom>
          <a:noFill/>
          <a:ln/>
        </p:spPr>
        <p:txBody>
          <a:bodyPr wrap="square" rtlCol="0" anchor="ctr"/>
          <a:lstStyle/>
          <a:p>
            <a:pPr marL="0" indent="0">
              <a:buNone/>
            </a:pPr>
            <a:r>
              <a:rPr lang="en-US" sz="1100" dirty="0">
                <a:solidFill>
                  <a:srgbClr val="36454F"/>
                </a:solidFill>
                <a:latin typeface="Calibri" pitchFamily="34" charset="0"/>
                <a:ea typeface="Calibri" pitchFamily="34" charset="-122"/>
                <a:cs typeface="Calibri" pitchFamily="34" charset="-120"/>
              </a:rPr>
              <a:t>History says technology creates more jobs than it destroys — but it also says the transition is painful and uneven.</a:t>
            </a:r>
            <a:endParaRPr lang="en-US" sz="1100" dirty="0"/>
          </a:p>
        </p:txBody>
      </p:sp>
      <p:sp>
        <p:nvSpPr>
          <p:cNvPr id="16" name="Shape 14"/>
          <p:cNvSpPr/>
          <p:nvPr/>
        </p:nvSpPr>
        <p:spPr>
          <a:xfrm>
            <a:off x="4709160" y="3108960"/>
            <a:ext cx="4069080" cy="1627632"/>
          </a:xfrm>
          <a:prstGeom prst="rect">
            <a:avLst/>
          </a:prstGeom>
          <a:solidFill>
            <a:srgbClr val="FFFFFF"/>
          </a:solidFill>
          <a:ln/>
          <a:effectLst>
            <a:outerShdw blurRad="88900" dist="25400" dir="8100000" algn="bl" rotWithShape="0">
              <a:srgbClr val="000000">
                <a:alpha val="9000"/>
              </a:srgbClr>
            </a:outerShdw>
          </a:effectLst>
        </p:spPr>
        <p:txBody>
          <a:bodyPr/>
          <a:lstStyle/>
          <a:p>
            <a:endParaRPr lang="en-US"/>
          </a:p>
        </p:txBody>
      </p:sp>
      <p:sp>
        <p:nvSpPr>
          <p:cNvPr id="17" name="Shape 15"/>
          <p:cNvSpPr/>
          <p:nvPr/>
        </p:nvSpPr>
        <p:spPr>
          <a:xfrm>
            <a:off x="4709160" y="3108960"/>
            <a:ext cx="4069080" cy="54864"/>
          </a:xfrm>
          <a:prstGeom prst="rect">
            <a:avLst/>
          </a:prstGeom>
          <a:solidFill>
            <a:srgbClr val="D0291A"/>
          </a:solidFill>
          <a:ln/>
        </p:spPr>
        <p:txBody>
          <a:bodyPr/>
          <a:lstStyle/>
          <a:p>
            <a:endParaRPr lang="en-US"/>
          </a:p>
        </p:txBody>
      </p:sp>
      <p:sp>
        <p:nvSpPr>
          <p:cNvPr id="18" name="Text 16"/>
          <p:cNvSpPr/>
          <p:nvPr/>
        </p:nvSpPr>
        <p:spPr>
          <a:xfrm>
            <a:off x="4846320" y="3236976"/>
            <a:ext cx="3794760" cy="594360"/>
          </a:xfrm>
          <a:prstGeom prst="rect">
            <a:avLst/>
          </a:prstGeom>
          <a:noFill/>
          <a:ln/>
        </p:spPr>
        <p:txBody>
          <a:bodyPr wrap="square" rtlCol="0" anchor="ctr"/>
          <a:lstStyle/>
          <a:p>
            <a:pPr marL="0" indent="0">
              <a:buNone/>
            </a:pPr>
            <a:r>
              <a:rPr lang="en-US" sz="1200" b="1" dirty="0">
                <a:solidFill>
                  <a:srgbClr val="1C1C1E"/>
                </a:solidFill>
                <a:latin typeface="Calibri" pitchFamily="34" charset="0"/>
                <a:ea typeface="Calibri" pitchFamily="34" charset="-122"/>
                <a:cs typeface="Calibri" pitchFamily="34" charset="-120"/>
              </a:rPr>
              <a:t>Who loses and who wins?</a:t>
            </a:r>
            <a:endParaRPr lang="en-US" sz="1200" dirty="0"/>
          </a:p>
        </p:txBody>
      </p:sp>
      <p:sp>
        <p:nvSpPr>
          <p:cNvPr id="19" name="Text 17"/>
          <p:cNvSpPr/>
          <p:nvPr/>
        </p:nvSpPr>
        <p:spPr>
          <a:xfrm>
            <a:off x="4846320" y="3858768"/>
            <a:ext cx="3794760" cy="777240"/>
          </a:xfrm>
          <a:prstGeom prst="rect">
            <a:avLst/>
          </a:prstGeom>
          <a:noFill/>
          <a:ln/>
        </p:spPr>
        <p:txBody>
          <a:bodyPr wrap="square" rtlCol="0" anchor="ctr"/>
          <a:lstStyle/>
          <a:p>
            <a:pPr marL="0" indent="0">
              <a:buNone/>
            </a:pPr>
            <a:r>
              <a:rPr lang="en-US" sz="1100" dirty="0">
                <a:solidFill>
                  <a:srgbClr val="36454F"/>
                </a:solidFill>
                <a:latin typeface="Calibri" pitchFamily="34" charset="0"/>
                <a:ea typeface="Calibri" pitchFamily="34" charset="-122"/>
                <a:cs typeface="Calibri" pitchFamily="34" charset="-120"/>
              </a:rPr>
              <a:t>Routine cognitive workers face displacement. Physical trades, healthcare, and creative work have structural advantages.</a:t>
            </a:r>
            <a:endParaRPr lang="en-US" sz="1100" dirty="0"/>
          </a:p>
        </p:txBody>
      </p:sp>
      <p:sp>
        <p:nvSpPr>
          <p:cNvPr id="20" name="Text 18"/>
          <p:cNvSpPr/>
          <p:nvPr/>
        </p:nvSpPr>
        <p:spPr>
          <a:xfrm>
            <a:off x="365760" y="4800600"/>
            <a:ext cx="7315200" cy="274320"/>
          </a:xfrm>
          <a:prstGeom prst="rect">
            <a:avLst/>
          </a:prstGeom>
          <a:noFill/>
          <a:ln/>
        </p:spPr>
        <p:txBody>
          <a:bodyPr wrap="square" rtlCol="0" anchor="ctr"/>
          <a:lstStyle/>
          <a:p>
            <a:pPr marL="0" indent="0">
              <a:buNone/>
            </a:pPr>
            <a:endParaRPr lang="en-US" sz="900" dirty="0"/>
          </a:p>
        </p:txBody>
      </p:sp>
      <p:sp>
        <p:nvSpPr>
          <p:cNvPr id="21" name="Text 19"/>
          <p:cNvSpPr/>
          <p:nvPr/>
        </p:nvSpPr>
        <p:spPr>
          <a:xfrm>
            <a:off x="8595360" y="4800600"/>
            <a:ext cx="457200" cy="274320"/>
          </a:xfrm>
          <a:prstGeom prst="rect">
            <a:avLst/>
          </a:prstGeom>
          <a:noFill/>
          <a:ln/>
        </p:spPr>
        <p:txBody>
          <a:bodyPr wrap="square"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3"/>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7F6F3"/>
          </a:solidFill>
          <a:ln/>
        </p:spPr>
        <p:txBody>
          <a:bodyPr/>
          <a:lstStyle/>
          <a:p>
            <a:endParaRPr lang="en-US"/>
          </a:p>
        </p:txBody>
      </p:sp>
      <p:sp>
        <p:nvSpPr>
          <p:cNvPr id="3" name="Text 1"/>
          <p:cNvSpPr/>
          <p:nvPr/>
        </p:nvSpPr>
        <p:spPr>
          <a:xfrm>
            <a:off x="457200" y="274320"/>
            <a:ext cx="914400" cy="1097280"/>
          </a:xfrm>
          <a:prstGeom prst="rect">
            <a:avLst/>
          </a:prstGeom>
          <a:noFill/>
          <a:ln/>
        </p:spPr>
        <p:txBody>
          <a:bodyPr wrap="square" rtlCol="0" anchor="ctr"/>
          <a:lstStyle/>
          <a:p>
            <a:pPr marL="0" indent="0">
              <a:buNone/>
            </a:pPr>
            <a:r>
              <a:rPr lang="en-US" sz="12000" b="1" dirty="0">
                <a:solidFill>
                  <a:srgbClr val="D0291A"/>
                </a:solidFill>
                <a:latin typeface="Georgia" pitchFamily="34" charset="0"/>
                <a:ea typeface="Georgia" pitchFamily="34" charset="-122"/>
                <a:cs typeface="Georgia" pitchFamily="34" charset="-120"/>
              </a:rPr>
              <a:t>“</a:t>
            </a:r>
            <a:endParaRPr lang="en-US" sz="12000" dirty="0"/>
          </a:p>
        </p:txBody>
      </p:sp>
      <p:sp>
        <p:nvSpPr>
          <p:cNvPr id="4" name="Text 2"/>
          <p:cNvSpPr/>
          <p:nvPr/>
        </p:nvSpPr>
        <p:spPr>
          <a:xfrm>
            <a:off x="1005840" y="914400"/>
            <a:ext cx="7132320" cy="2286000"/>
          </a:xfrm>
          <a:prstGeom prst="rect">
            <a:avLst/>
          </a:prstGeom>
          <a:noFill/>
          <a:ln/>
        </p:spPr>
        <p:txBody>
          <a:bodyPr wrap="square" rtlCol="0" anchor="ctr"/>
          <a:lstStyle/>
          <a:p>
            <a:pPr marL="0" indent="0">
              <a:buNone/>
            </a:pPr>
            <a:r>
              <a:rPr lang="en-US" sz="2200" i="1" dirty="0">
                <a:solidFill>
                  <a:srgbClr val="1C2B4A"/>
                </a:solidFill>
                <a:latin typeface="Georgia" pitchFamily="34" charset="0"/>
                <a:ea typeface="Georgia" pitchFamily="34" charset="-122"/>
                <a:cs typeface="Georgia" pitchFamily="34" charset="-120"/>
              </a:rPr>
              <a:t>The race between education and technology is the key to income inequality. If technology wins, workers with only basic skills will be left behind. If education and training win, workers at all levels can thrive.</a:t>
            </a:r>
            <a:endParaRPr lang="en-US" sz="2200" dirty="0"/>
          </a:p>
        </p:txBody>
      </p:sp>
      <p:sp>
        <p:nvSpPr>
          <p:cNvPr id="5" name="Text 3"/>
          <p:cNvSpPr/>
          <p:nvPr/>
        </p:nvSpPr>
        <p:spPr>
          <a:xfrm>
            <a:off x="1005840" y="3246120"/>
            <a:ext cx="7132320" cy="457200"/>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Claudia Goldin &amp; Lawrence Katz  —  The Race Between Education and Technology (2008)</a:t>
            </a:r>
            <a:endParaRPr lang="en-US" sz="1300" dirty="0"/>
          </a:p>
        </p:txBody>
      </p:sp>
      <p:sp>
        <p:nvSpPr>
          <p:cNvPr id="6" name="Shape 4"/>
          <p:cNvSpPr/>
          <p:nvPr/>
        </p:nvSpPr>
        <p:spPr>
          <a:xfrm>
            <a:off x="1005840" y="3200400"/>
            <a:ext cx="7132320" cy="0"/>
          </a:xfrm>
          <a:prstGeom prst="line">
            <a:avLst/>
          </a:prstGeom>
          <a:noFill/>
          <a:ln w="12700">
            <a:solidFill>
              <a:srgbClr val="E2E8F0"/>
            </a:solidFill>
            <a:prstDash val="solid"/>
          </a:ln>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C1C1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0291A"/>
          </a:solidFill>
          <a:ln w="12700">
            <a:solidFill>
              <a:srgbClr val="D0291A"/>
            </a:solidFill>
            <a:prstDash val="solid"/>
          </a:ln>
        </p:spPr>
        <p:txBody>
          <a:bodyPr/>
          <a:lstStyle/>
          <a:p>
            <a:endParaRPr lang="en-US"/>
          </a:p>
        </p:txBody>
      </p:sp>
      <p:sp>
        <p:nvSpPr>
          <p:cNvPr id="3" name="Text 1"/>
          <p:cNvSpPr/>
          <p:nvPr/>
        </p:nvSpPr>
        <p:spPr>
          <a:xfrm>
            <a:off x="457200" y="1645920"/>
            <a:ext cx="8229600" cy="91440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The Labor Market Paradox</a:t>
            </a:r>
            <a:endParaRPr lang="en-US" sz="3600" dirty="0"/>
          </a:p>
        </p:txBody>
      </p:sp>
      <p:sp>
        <p:nvSpPr>
          <p:cNvPr id="4" name="Text 2"/>
          <p:cNvSpPr/>
          <p:nvPr/>
        </p:nvSpPr>
        <p:spPr>
          <a:xfrm>
            <a:off x="457200" y="2743200"/>
            <a:ext cx="8229600" cy="1371600"/>
          </a:xfrm>
          <a:prstGeom prst="rect">
            <a:avLst/>
          </a:prstGeom>
          <a:noFill/>
          <a:ln/>
        </p:spPr>
        <p:txBody>
          <a:bodyPr wrap="square" rtlCol="0" anchor="ctr"/>
          <a:lstStyle/>
          <a:p>
            <a:pPr marL="0" indent="0">
              <a:buNone/>
            </a:pPr>
            <a:r>
              <a:rPr lang="en-US" sz="1200" dirty="0">
                <a:solidFill>
                  <a:srgbClr val="888888"/>
                </a:solidFill>
                <a:latin typeface="Calibri" pitchFamily="34" charset="0"/>
                <a:ea typeface="Calibri" pitchFamily="34" charset="-122"/>
                <a:cs typeface="Calibri" pitchFamily="34" charset="-120"/>
              </a:rPr>
              <a:t>April 2026</a:t>
            </a:r>
            <a:endParaRPr lang="en-US" sz="1200" dirty="0"/>
          </a:p>
          <a:p>
            <a:pPr marL="0" indent="0">
              <a:buNone/>
            </a:pPr>
            <a:r>
              <a:rPr lang="en-US" sz="1200" dirty="0">
                <a:solidFill>
                  <a:srgbClr val="888888"/>
                </a:solidFill>
                <a:latin typeface="Calibri" pitchFamily="34" charset="0"/>
                <a:ea typeface="Calibri" pitchFamily="34" charset="-122"/>
                <a:cs typeface="Calibri" pitchFamily="34" charset="-120"/>
              </a:rPr>
              <a:t>Data sources: BLS, Challenger Gray &amp; Christmas, Conference Board,</a:t>
            </a:r>
            <a:endParaRPr lang="en-US" sz="1200" dirty="0"/>
          </a:p>
          <a:p>
            <a:pPr marL="0" indent="0">
              <a:buNone/>
            </a:pPr>
            <a:r>
              <a:rPr lang="en-US" sz="1200" dirty="0">
                <a:solidFill>
                  <a:srgbClr val="888888"/>
                </a:solidFill>
                <a:latin typeface="Calibri" pitchFamily="34" charset="0"/>
                <a:ea typeface="Calibri" pitchFamily="34" charset="-122"/>
                <a:cs typeface="Calibri" pitchFamily="34" charset="-120"/>
              </a:rPr>
              <a:t>University of Michigan, Indeed Hiring Lab, NY Fed, Goldman Sachs CIO Survey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1265</Words>
  <Application>Microsoft Office PowerPoint</Application>
  <PresentationFormat>On-screen Show (16:9)</PresentationFormat>
  <Paragraphs>189</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Labor Market Paradox</dc:title>
  <dc:subject>PptxGenJS Presentation</dc:subject>
  <dc:creator>PptxGenJS</dc:creator>
  <cp:lastModifiedBy>Sakib Mahtab</cp:lastModifiedBy>
  <cp:revision>2</cp:revision>
  <dcterms:created xsi:type="dcterms:W3CDTF">2026-04-23T19:46:02Z</dcterms:created>
  <dcterms:modified xsi:type="dcterms:W3CDTF">2026-04-23T20:01:04Z</dcterms:modified>
</cp:coreProperties>
</file>